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</p:sldMasterIdLst>
  <p:notesMasterIdLst>
    <p:notesMasterId r:id="rId28"/>
  </p:notesMasterIdLst>
  <p:handoutMasterIdLst>
    <p:handoutMasterId r:id="rId29"/>
  </p:handoutMasterIdLst>
  <p:sldIdLst>
    <p:sldId id="257" r:id="rId5"/>
    <p:sldId id="258" r:id="rId6"/>
    <p:sldId id="259" r:id="rId7"/>
    <p:sldId id="262" r:id="rId8"/>
    <p:sldId id="260" r:id="rId9"/>
    <p:sldId id="270" r:id="rId10"/>
    <p:sldId id="277" r:id="rId11"/>
    <p:sldId id="271" r:id="rId12"/>
    <p:sldId id="261" r:id="rId13"/>
    <p:sldId id="272" r:id="rId14"/>
    <p:sldId id="273" r:id="rId15"/>
    <p:sldId id="279" r:id="rId16"/>
    <p:sldId id="280" r:id="rId17"/>
    <p:sldId id="281" r:id="rId18"/>
    <p:sldId id="282" r:id="rId19"/>
    <p:sldId id="284" r:id="rId20"/>
    <p:sldId id="283" r:id="rId21"/>
    <p:sldId id="274" r:id="rId22"/>
    <p:sldId id="276" r:id="rId23"/>
    <p:sldId id="286" r:id="rId24"/>
    <p:sldId id="287" r:id="rId25"/>
    <p:sldId id="290" r:id="rId26"/>
    <p:sldId id="289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496">
          <p15:clr>
            <a:srgbClr val="A4A3A4"/>
          </p15:clr>
        </p15:guide>
        <p15:guide id="3" orient="horz" pos="2880">
          <p15:clr>
            <a:srgbClr val="A4A3A4"/>
          </p15:clr>
        </p15:guide>
        <p15:guide id="4" orient="horz" pos="1056">
          <p15:clr>
            <a:srgbClr val="A4A3A4"/>
          </p15:clr>
        </p15:guide>
        <p15:guide id="5" orient="horz" pos="3888">
          <p15:clr>
            <a:srgbClr val="A4A3A4"/>
          </p15:clr>
        </p15:guide>
        <p15:guide id="6" orient="horz" pos="240">
          <p15:clr>
            <a:srgbClr val="A4A3A4"/>
          </p15:clr>
        </p15:guide>
        <p15:guide id="7" pos="3839">
          <p15:clr>
            <a:srgbClr val="A4A3A4"/>
          </p15:clr>
        </p15:guide>
        <p15:guide id="8" pos="527">
          <p15:clr>
            <a:srgbClr val="A4A3A4"/>
          </p15:clr>
        </p15:guide>
        <p15:guide id="9" pos="815">
          <p15:clr>
            <a:srgbClr val="A4A3A4"/>
          </p15:clr>
        </p15:guide>
        <p15:guide id="10" pos="6863">
          <p15:clr>
            <a:srgbClr val="A4A3A4"/>
          </p15:clr>
        </p15:guide>
        <p15:guide id="11" pos="6143">
          <p15:clr>
            <a:srgbClr val="A4A3A4"/>
          </p15:clr>
        </p15:guide>
        <p15:guide id="12" pos="470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2496"/>
        <p:guide orient="horz" pos="2880"/>
        <p:guide orient="horz" pos="1056"/>
        <p:guide orient="horz" pos="3888"/>
        <p:guide orient="horz" pos="240"/>
        <p:guide pos="3839"/>
        <p:guide pos="527"/>
        <p:guide pos="815"/>
        <p:guide pos="6863"/>
        <p:guide pos="6143"/>
        <p:guide pos="47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6" d="100"/>
          <a:sy n="76" d="100"/>
        </p:scale>
        <p:origin x="1680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168485-F1CB-471B-946E-73803DE096A4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3613B21-34F3-4CBD-929C-7FDD6400BF72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OWASP Top 10</a:t>
          </a:r>
        </a:p>
      </dgm:t>
    </dgm:pt>
    <dgm:pt modelId="{1DC1E945-9B99-4D19-A318-4E2009D35962}" type="parTrans" cxnId="{2705B9C7-8345-4C95-94A9-1A77A9C1E890}">
      <dgm:prSet/>
      <dgm:spPr/>
      <dgm:t>
        <a:bodyPr/>
        <a:lstStyle/>
        <a:p>
          <a:endParaRPr lang="en-US" sz="2400"/>
        </a:p>
      </dgm:t>
    </dgm:pt>
    <dgm:pt modelId="{1FC0C9D3-D589-457C-AFAE-17A64E076DFC}" type="sibTrans" cxnId="{2705B9C7-8345-4C95-94A9-1A77A9C1E890}">
      <dgm:prSet/>
      <dgm:spPr/>
      <dgm:t>
        <a:bodyPr/>
        <a:lstStyle/>
        <a:p>
          <a:endParaRPr lang="en-US" sz="2400"/>
        </a:p>
      </dgm:t>
    </dgm:pt>
    <dgm:pt modelId="{9231E517-2173-455D-9A63-74E2DB391E14}">
      <dgm:prSet custT="1"/>
      <dgm:spPr/>
      <dgm:t>
        <a:bodyPr/>
        <a:lstStyle/>
        <a:p>
          <a:r>
            <a:rPr lang="en-US" sz="24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Webgoat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6FA445-DA74-43E8-84AC-7A1158EEB1C9}" type="parTrans" cxnId="{42F4145E-9F6A-4475-9172-29C48F254015}">
      <dgm:prSet/>
      <dgm:spPr/>
      <dgm:t>
        <a:bodyPr/>
        <a:lstStyle/>
        <a:p>
          <a:endParaRPr lang="en-US" sz="2400"/>
        </a:p>
      </dgm:t>
    </dgm:pt>
    <dgm:pt modelId="{5C9399F8-57A4-4141-AFA9-DC24DE4B4FE2}" type="sibTrans" cxnId="{42F4145E-9F6A-4475-9172-29C48F254015}">
      <dgm:prSet/>
      <dgm:spPr/>
      <dgm:t>
        <a:bodyPr/>
        <a:lstStyle/>
        <a:p>
          <a:endParaRPr lang="en-US" sz="2400"/>
        </a:p>
      </dgm:t>
    </dgm:pt>
    <dgm:pt modelId="{6B882699-F4D8-4E38-BCA8-54FD23C1C94E}">
      <dgm:prSet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Zed Attack Proxy (ZAP)</a:t>
          </a:r>
        </a:p>
      </dgm:t>
    </dgm:pt>
    <dgm:pt modelId="{A005FFCC-1F36-4C94-A110-1A275B38EF4B}" type="parTrans" cxnId="{0012BEA7-3C08-4979-A261-E1E0A1BDA4F1}">
      <dgm:prSet/>
      <dgm:spPr/>
      <dgm:t>
        <a:bodyPr/>
        <a:lstStyle/>
        <a:p>
          <a:endParaRPr lang="en-US" sz="2400"/>
        </a:p>
      </dgm:t>
    </dgm:pt>
    <dgm:pt modelId="{6537AD32-4855-421C-B30E-C87C9FA4B230}" type="sibTrans" cxnId="{0012BEA7-3C08-4979-A261-E1E0A1BDA4F1}">
      <dgm:prSet/>
      <dgm:spPr/>
      <dgm:t>
        <a:bodyPr/>
        <a:lstStyle/>
        <a:p>
          <a:endParaRPr lang="en-US" sz="2400"/>
        </a:p>
      </dgm:t>
    </dgm:pt>
    <dgm:pt modelId="{A61DDEF3-2C79-4E1C-B3C9-9F500547A13F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Web Security and Testing Guide</a:t>
          </a:r>
        </a:p>
      </dgm:t>
    </dgm:pt>
    <dgm:pt modelId="{C773F26E-7E8F-4193-9906-FE883307A163}" type="parTrans" cxnId="{D3CEB9D6-AA05-4750-8360-7CB4A2915B3B}">
      <dgm:prSet/>
      <dgm:spPr/>
      <dgm:t>
        <a:bodyPr/>
        <a:lstStyle/>
        <a:p>
          <a:endParaRPr lang="en-US" sz="2400"/>
        </a:p>
      </dgm:t>
    </dgm:pt>
    <dgm:pt modelId="{CF85E4B1-4D40-4F19-8E4C-E379898C4A2A}" type="sibTrans" cxnId="{D3CEB9D6-AA05-4750-8360-7CB4A2915B3B}">
      <dgm:prSet/>
      <dgm:spPr/>
      <dgm:t>
        <a:bodyPr/>
        <a:lstStyle/>
        <a:p>
          <a:endParaRPr lang="en-US" sz="2400"/>
        </a:p>
      </dgm:t>
    </dgm:pt>
    <dgm:pt modelId="{ECADE8C6-CFDC-4EE7-ABA8-57C07859E08B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Juice Shop</a:t>
          </a:r>
        </a:p>
      </dgm:t>
    </dgm:pt>
    <dgm:pt modelId="{EF5D7327-114E-4BFE-A62C-BEED8713C2C8}" type="parTrans" cxnId="{352819EC-2D0A-44B6-8269-77AC9A1EA58F}">
      <dgm:prSet/>
      <dgm:spPr/>
      <dgm:t>
        <a:bodyPr/>
        <a:lstStyle/>
        <a:p>
          <a:endParaRPr lang="en-US" sz="2400"/>
        </a:p>
      </dgm:t>
    </dgm:pt>
    <dgm:pt modelId="{FCB4E728-7183-4F46-9D39-00109BC4281C}" type="sibTrans" cxnId="{352819EC-2D0A-44B6-8269-77AC9A1EA58F}">
      <dgm:prSet/>
      <dgm:spPr/>
      <dgm:t>
        <a:bodyPr/>
        <a:lstStyle/>
        <a:p>
          <a:endParaRPr lang="en-US" sz="2400"/>
        </a:p>
      </dgm:t>
    </dgm:pt>
    <dgm:pt modelId="{82B66298-8E37-427A-8793-F8AE39593DE8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Mobile Security Testing Guide</a:t>
          </a:r>
        </a:p>
      </dgm:t>
    </dgm:pt>
    <dgm:pt modelId="{8F1D2E3B-440A-41C2-97F1-51468A18C38B}" type="parTrans" cxnId="{FFEB1FAA-E74D-4BD3-AABB-0B3D8B9FBAD9}">
      <dgm:prSet/>
      <dgm:spPr/>
      <dgm:t>
        <a:bodyPr/>
        <a:lstStyle/>
        <a:p>
          <a:endParaRPr lang="en-US" sz="2400"/>
        </a:p>
      </dgm:t>
    </dgm:pt>
    <dgm:pt modelId="{B9E80B11-6B97-46FB-98EB-AF52BAACCADD}" type="sibTrans" cxnId="{FFEB1FAA-E74D-4BD3-AABB-0B3D8B9FBAD9}">
      <dgm:prSet/>
      <dgm:spPr/>
      <dgm:t>
        <a:bodyPr/>
        <a:lstStyle/>
        <a:p>
          <a:endParaRPr lang="en-US" sz="2400"/>
        </a:p>
      </dgm:t>
    </dgm:pt>
    <dgm:pt modelId="{97A3FFD9-294E-43D7-AA2F-B7EE74A0E132}">
      <dgm:prSet custT="1"/>
      <dgm:spPr/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Mobile App Security Requirements and Verification</a:t>
          </a:r>
        </a:p>
      </dgm:t>
    </dgm:pt>
    <dgm:pt modelId="{4B4B7075-FA0B-41FA-A169-AF73AA67B31B}" type="parTrans" cxnId="{66484971-A452-4B83-8B12-9EC7D47F3DFE}">
      <dgm:prSet/>
      <dgm:spPr/>
      <dgm:t>
        <a:bodyPr/>
        <a:lstStyle/>
        <a:p>
          <a:endParaRPr lang="en-US" sz="2400"/>
        </a:p>
      </dgm:t>
    </dgm:pt>
    <dgm:pt modelId="{BA209359-DA97-47B2-B992-634DCEDAD2DB}" type="sibTrans" cxnId="{66484971-A452-4B83-8B12-9EC7D47F3DFE}">
      <dgm:prSet/>
      <dgm:spPr/>
      <dgm:t>
        <a:bodyPr/>
        <a:lstStyle/>
        <a:p>
          <a:endParaRPr lang="en-US" sz="2400"/>
        </a:p>
      </dgm:t>
    </dgm:pt>
    <dgm:pt modelId="{9CE6F75D-82C7-433D-B11F-25F77A3D7E8A}" type="pres">
      <dgm:prSet presAssocID="{F9168485-F1CB-471B-946E-73803DE096A4}" presName="diagram" presStyleCnt="0">
        <dgm:presLayoutVars>
          <dgm:dir/>
          <dgm:resizeHandles val="exact"/>
        </dgm:presLayoutVars>
      </dgm:prSet>
      <dgm:spPr/>
    </dgm:pt>
    <dgm:pt modelId="{C84DFE33-BB87-4C83-91E9-72F1CAEBC418}" type="pres">
      <dgm:prSet presAssocID="{B3613B21-34F3-4CBD-929C-7FDD6400BF72}" presName="node" presStyleLbl="node1" presStyleIdx="0" presStyleCnt="7" custLinFactNeighborX="884" custLinFactNeighborY="-2373">
        <dgm:presLayoutVars>
          <dgm:bulletEnabled val="1"/>
        </dgm:presLayoutVars>
      </dgm:prSet>
      <dgm:spPr/>
    </dgm:pt>
    <dgm:pt modelId="{650180B1-790D-406B-96FF-09BE1D806D3F}" type="pres">
      <dgm:prSet presAssocID="{1FC0C9D3-D589-457C-AFAE-17A64E076DFC}" presName="sibTrans" presStyleCnt="0"/>
      <dgm:spPr/>
    </dgm:pt>
    <dgm:pt modelId="{B95ACC65-35EF-4DEB-A917-A89FA3458987}" type="pres">
      <dgm:prSet presAssocID="{9231E517-2173-455D-9A63-74E2DB391E14}" presName="node" presStyleLbl="node1" presStyleIdx="1" presStyleCnt="7">
        <dgm:presLayoutVars>
          <dgm:bulletEnabled val="1"/>
        </dgm:presLayoutVars>
      </dgm:prSet>
      <dgm:spPr/>
    </dgm:pt>
    <dgm:pt modelId="{C53216A2-5E35-4500-B161-119E251A775D}" type="pres">
      <dgm:prSet presAssocID="{5C9399F8-57A4-4141-AFA9-DC24DE4B4FE2}" presName="sibTrans" presStyleCnt="0"/>
      <dgm:spPr/>
    </dgm:pt>
    <dgm:pt modelId="{D7A8377E-28D6-4A43-8825-0923F46F8C82}" type="pres">
      <dgm:prSet presAssocID="{6B882699-F4D8-4E38-BCA8-54FD23C1C94E}" presName="node" presStyleLbl="node1" presStyleIdx="2" presStyleCnt="7">
        <dgm:presLayoutVars>
          <dgm:bulletEnabled val="1"/>
        </dgm:presLayoutVars>
      </dgm:prSet>
      <dgm:spPr/>
    </dgm:pt>
    <dgm:pt modelId="{8DDF125E-68B1-4634-9BCE-3BECE001925A}" type="pres">
      <dgm:prSet presAssocID="{6537AD32-4855-421C-B30E-C87C9FA4B230}" presName="sibTrans" presStyleCnt="0"/>
      <dgm:spPr/>
    </dgm:pt>
    <dgm:pt modelId="{A4762D0E-A541-48DB-815E-06BBAE83AABE}" type="pres">
      <dgm:prSet presAssocID="{A61DDEF3-2C79-4E1C-B3C9-9F500547A13F}" presName="node" presStyleLbl="node1" presStyleIdx="3" presStyleCnt="7">
        <dgm:presLayoutVars>
          <dgm:bulletEnabled val="1"/>
        </dgm:presLayoutVars>
      </dgm:prSet>
      <dgm:spPr/>
    </dgm:pt>
    <dgm:pt modelId="{F4C6B2FC-875B-4B79-B46E-1842B7D4413B}" type="pres">
      <dgm:prSet presAssocID="{CF85E4B1-4D40-4F19-8E4C-E379898C4A2A}" presName="sibTrans" presStyleCnt="0"/>
      <dgm:spPr/>
    </dgm:pt>
    <dgm:pt modelId="{6F04CC69-6941-4B53-8D26-0DC457DDB551}" type="pres">
      <dgm:prSet presAssocID="{ECADE8C6-CFDC-4EE7-ABA8-57C07859E08B}" presName="node" presStyleLbl="node1" presStyleIdx="4" presStyleCnt="7">
        <dgm:presLayoutVars>
          <dgm:bulletEnabled val="1"/>
        </dgm:presLayoutVars>
      </dgm:prSet>
      <dgm:spPr/>
    </dgm:pt>
    <dgm:pt modelId="{465304C4-3ACF-4449-BCE2-B5AC116B5A97}" type="pres">
      <dgm:prSet presAssocID="{FCB4E728-7183-4F46-9D39-00109BC4281C}" presName="sibTrans" presStyleCnt="0"/>
      <dgm:spPr/>
    </dgm:pt>
    <dgm:pt modelId="{3594EADC-E1BD-4F34-BD37-9409A0B5738B}" type="pres">
      <dgm:prSet presAssocID="{82B66298-8E37-427A-8793-F8AE39593DE8}" presName="node" presStyleLbl="node1" presStyleIdx="5" presStyleCnt="7">
        <dgm:presLayoutVars>
          <dgm:bulletEnabled val="1"/>
        </dgm:presLayoutVars>
      </dgm:prSet>
      <dgm:spPr/>
    </dgm:pt>
    <dgm:pt modelId="{275E99F5-9CB9-4ED7-9D41-7B739617FA36}" type="pres">
      <dgm:prSet presAssocID="{B9E80B11-6B97-46FB-98EB-AF52BAACCADD}" presName="sibTrans" presStyleCnt="0"/>
      <dgm:spPr/>
    </dgm:pt>
    <dgm:pt modelId="{3BA08ED2-8CB5-4282-851E-307D71982F26}" type="pres">
      <dgm:prSet presAssocID="{97A3FFD9-294E-43D7-AA2F-B7EE74A0E132}" presName="node" presStyleLbl="node1" presStyleIdx="6" presStyleCnt="7">
        <dgm:presLayoutVars>
          <dgm:bulletEnabled val="1"/>
        </dgm:presLayoutVars>
      </dgm:prSet>
      <dgm:spPr/>
    </dgm:pt>
  </dgm:ptLst>
  <dgm:cxnLst>
    <dgm:cxn modelId="{42F4145E-9F6A-4475-9172-29C48F254015}" srcId="{F9168485-F1CB-471B-946E-73803DE096A4}" destId="{9231E517-2173-455D-9A63-74E2DB391E14}" srcOrd="1" destOrd="0" parTransId="{056FA445-DA74-43E8-84AC-7A1158EEB1C9}" sibTransId="{5C9399F8-57A4-4141-AFA9-DC24DE4B4FE2}"/>
    <dgm:cxn modelId="{6C2A085F-9DE3-4153-989A-8194D8787E3E}" type="presOf" srcId="{82B66298-8E37-427A-8793-F8AE39593DE8}" destId="{3594EADC-E1BD-4F34-BD37-9409A0B5738B}" srcOrd="0" destOrd="0" presId="urn:microsoft.com/office/officeart/2005/8/layout/default"/>
    <dgm:cxn modelId="{66484971-A452-4B83-8B12-9EC7D47F3DFE}" srcId="{F9168485-F1CB-471B-946E-73803DE096A4}" destId="{97A3FFD9-294E-43D7-AA2F-B7EE74A0E132}" srcOrd="6" destOrd="0" parTransId="{4B4B7075-FA0B-41FA-A169-AF73AA67B31B}" sibTransId="{BA209359-DA97-47B2-B992-634DCEDAD2DB}"/>
    <dgm:cxn modelId="{5BB4BE9C-C636-405C-A8C4-0C7FC1CBCFF6}" type="presOf" srcId="{A61DDEF3-2C79-4E1C-B3C9-9F500547A13F}" destId="{A4762D0E-A541-48DB-815E-06BBAE83AABE}" srcOrd="0" destOrd="0" presId="urn:microsoft.com/office/officeart/2005/8/layout/default"/>
    <dgm:cxn modelId="{E177AF9D-C917-45A0-9230-A5887F603823}" type="presOf" srcId="{97A3FFD9-294E-43D7-AA2F-B7EE74A0E132}" destId="{3BA08ED2-8CB5-4282-851E-307D71982F26}" srcOrd="0" destOrd="0" presId="urn:microsoft.com/office/officeart/2005/8/layout/default"/>
    <dgm:cxn modelId="{B822CAA4-E16B-47DE-A036-D5D5AEF4915D}" type="presOf" srcId="{B3613B21-34F3-4CBD-929C-7FDD6400BF72}" destId="{C84DFE33-BB87-4C83-91E9-72F1CAEBC418}" srcOrd="0" destOrd="0" presId="urn:microsoft.com/office/officeart/2005/8/layout/default"/>
    <dgm:cxn modelId="{0012BEA7-3C08-4979-A261-E1E0A1BDA4F1}" srcId="{F9168485-F1CB-471B-946E-73803DE096A4}" destId="{6B882699-F4D8-4E38-BCA8-54FD23C1C94E}" srcOrd="2" destOrd="0" parTransId="{A005FFCC-1F36-4C94-A110-1A275B38EF4B}" sibTransId="{6537AD32-4855-421C-B30E-C87C9FA4B230}"/>
    <dgm:cxn modelId="{FFEB1FAA-E74D-4BD3-AABB-0B3D8B9FBAD9}" srcId="{F9168485-F1CB-471B-946E-73803DE096A4}" destId="{82B66298-8E37-427A-8793-F8AE39593DE8}" srcOrd="5" destOrd="0" parTransId="{8F1D2E3B-440A-41C2-97F1-51468A18C38B}" sibTransId="{B9E80B11-6B97-46FB-98EB-AF52BAACCADD}"/>
    <dgm:cxn modelId="{2ED7FFB0-21E8-494F-B06E-5C38D73B99CA}" type="presOf" srcId="{9231E517-2173-455D-9A63-74E2DB391E14}" destId="{B95ACC65-35EF-4DEB-A917-A89FA3458987}" srcOrd="0" destOrd="0" presId="urn:microsoft.com/office/officeart/2005/8/layout/default"/>
    <dgm:cxn modelId="{2705B9C7-8345-4C95-94A9-1A77A9C1E890}" srcId="{F9168485-F1CB-471B-946E-73803DE096A4}" destId="{B3613B21-34F3-4CBD-929C-7FDD6400BF72}" srcOrd="0" destOrd="0" parTransId="{1DC1E945-9B99-4D19-A318-4E2009D35962}" sibTransId="{1FC0C9D3-D589-457C-AFAE-17A64E076DFC}"/>
    <dgm:cxn modelId="{7F318ACB-1540-4AB0-8732-5E3FA49EE9FE}" type="presOf" srcId="{6B882699-F4D8-4E38-BCA8-54FD23C1C94E}" destId="{D7A8377E-28D6-4A43-8825-0923F46F8C82}" srcOrd="0" destOrd="0" presId="urn:microsoft.com/office/officeart/2005/8/layout/default"/>
    <dgm:cxn modelId="{D3CEB9D6-AA05-4750-8360-7CB4A2915B3B}" srcId="{F9168485-F1CB-471B-946E-73803DE096A4}" destId="{A61DDEF3-2C79-4E1C-B3C9-9F500547A13F}" srcOrd="3" destOrd="0" parTransId="{C773F26E-7E8F-4193-9906-FE883307A163}" sibTransId="{CF85E4B1-4D40-4F19-8E4C-E379898C4A2A}"/>
    <dgm:cxn modelId="{4306C1DF-A719-4893-9F80-BA30187B6EC3}" type="presOf" srcId="{ECADE8C6-CFDC-4EE7-ABA8-57C07859E08B}" destId="{6F04CC69-6941-4B53-8D26-0DC457DDB551}" srcOrd="0" destOrd="0" presId="urn:microsoft.com/office/officeart/2005/8/layout/default"/>
    <dgm:cxn modelId="{352819EC-2D0A-44B6-8269-77AC9A1EA58F}" srcId="{F9168485-F1CB-471B-946E-73803DE096A4}" destId="{ECADE8C6-CFDC-4EE7-ABA8-57C07859E08B}" srcOrd="4" destOrd="0" parTransId="{EF5D7327-114E-4BFE-A62C-BEED8713C2C8}" sibTransId="{FCB4E728-7183-4F46-9D39-00109BC4281C}"/>
    <dgm:cxn modelId="{D4CDC1EF-C9EF-4C69-B343-28B8A8B1B105}" type="presOf" srcId="{F9168485-F1CB-471B-946E-73803DE096A4}" destId="{9CE6F75D-82C7-433D-B11F-25F77A3D7E8A}" srcOrd="0" destOrd="0" presId="urn:microsoft.com/office/officeart/2005/8/layout/default"/>
    <dgm:cxn modelId="{4F567B6B-93C2-47CA-9E39-BE2A7D962406}" type="presParOf" srcId="{9CE6F75D-82C7-433D-B11F-25F77A3D7E8A}" destId="{C84DFE33-BB87-4C83-91E9-72F1CAEBC418}" srcOrd="0" destOrd="0" presId="urn:microsoft.com/office/officeart/2005/8/layout/default"/>
    <dgm:cxn modelId="{7EE53F16-77F9-4EB0-B686-9F86AAFC3519}" type="presParOf" srcId="{9CE6F75D-82C7-433D-B11F-25F77A3D7E8A}" destId="{650180B1-790D-406B-96FF-09BE1D806D3F}" srcOrd="1" destOrd="0" presId="urn:microsoft.com/office/officeart/2005/8/layout/default"/>
    <dgm:cxn modelId="{29CD5205-2B7A-458C-B060-B0FAEE875025}" type="presParOf" srcId="{9CE6F75D-82C7-433D-B11F-25F77A3D7E8A}" destId="{B95ACC65-35EF-4DEB-A917-A89FA3458987}" srcOrd="2" destOrd="0" presId="urn:microsoft.com/office/officeart/2005/8/layout/default"/>
    <dgm:cxn modelId="{E4DFCFDB-7E80-4B19-B373-2455D082DD75}" type="presParOf" srcId="{9CE6F75D-82C7-433D-B11F-25F77A3D7E8A}" destId="{C53216A2-5E35-4500-B161-119E251A775D}" srcOrd="3" destOrd="0" presId="urn:microsoft.com/office/officeart/2005/8/layout/default"/>
    <dgm:cxn modelId="{526A9823-A307-4EFF-A421-805CE4F691C6}" type="presParOf" srcId="{9CE6F75D-82C7-433D-B11F-25F77A3D7E8A}" destId="{D7A8377E-28D6-4A43-8825-0923F46F8C82}" srcOrd="4" destOrd="0" presId="urn:microsoft.com/office/officeart/2005/8/layout/default"/>
    <dgm:cxn modelId="{4C8A2BA1-C879-4B38-AE28-7FBC07EE141A}" type="presParOf" srcId="{9CE6F75D-82C7-433D-B11F-25F77A3D7E8A}" destId="{8DDF125E-68B1-4634-9BCE-3BECE001925A}" srcOrd="5" destOrd="0" presId="urn:microsoft.com/office/officeart/2005/8/layout/default"/>
    <dgm:cxn modelId="{D9E2343F-13C6-4C13-9EBF-633D9FFB9810}" type="presParOf" srcId="{9CE6F75D-82C7-433D-B11F-25F77A3D7E8A}" destId="{A4762D0E-A541-48DB-815E-06BBAE83AABE}" srcOrd="6" destOrd="0" presId="urn:microsoft.com/office/officeart/2005/8/layout/default"/>
    <dgm:cxn modelId="{0A487074-D705-44FF-AA00-B1C35C80DCF0}" type="presParOf" srcId="{9CE6F75D-82C7-433D-B11F-25F77A3D7E8A}" destId="{F4C6B2FC-875B-4B79-B46E-1842B7D4413B}" srcOrd="7" destOrd="0" presId="urn:microsoft.com/office/officeart/2005/8/layout/default"/>
    <dgm:cxn modelId="{3A589055-17B2-4972-9533-370DB87392BC}" type="presParOf" srcId="{9CE6F75D-82C7-433D-B11F-25F77A3D7E8A}" destId="{6F04CC69-6941-4B53-8D26-0DC457DDB551}" srcOrd="8" destOrd="0" presId="urn:microsoft.com/office/officeart/2005/8/layout/default"/>
    <dgm:cxn modelId="{5F2586FE-2608-4D0F-BA4A-CDA5D31C42D7}" type="presParOf" srcId="{9CE6F75D-82C7-433D-B11F-25F77A3D7E8A}" destId="{465304C4-3ACF-4449-BCE2-B5AC116B5A97}" srcOrd="9" destOrd="0" presId="urn:microsoft.com/office/officeart/2005/8/layout/default"/>
    <dgm:cxn modelId="{75A5F53F-7F15-4291-8696-7F1494FB68BE}" type="presParOf" srcId="{9CE6F75D-82C7-433D-B11F-25F77A3D7E8A}" destId="{3594EADC-E1BD-4F34-BD37-9409A0B5738B}" srcOrd="10" destOrd="0" presId="urn:microsoft.com/office/officeart/2005/8/layout/default"/>
    <dgm:cxn modelId="{305D9FB9-3D35-4F9E-A9C4-EE980E36B740}" type="presParOf" srcId="{9CE6F75D-82C7-433D-B11F-25F77A3D7E8A}" destId="{275E99F5-9CB9-4ED7-9D41-7B739617FA36}" srcOrd="11" destOrd="0" presId="urn:microsoft.com/office/officeart/2005/8/layout/default"/>
    <dgm:cxn modelId="{FB33325E-6A0A-46E3-A878-D055E0D9E45B}" type="presParOf" srcId="{9CE6F75D-82C7-433D-B11F-25F77A3D7E8A}" destId="{3BA08ED2-8CB5-4282-851E-307D71982F2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9254DC-F33D-494B-BEDA-CD5C9695D48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A91DD6E-D615-400A-86C4-0CA7053BE5CB}">
      <dgm:prSet/>
      <dgm:spPr/>
      <dgm:t>
        <a:bodyPr/>
        <a:lstStyle/>
        <a:p>
          <a:r>
            <a:rPr lang="en-US" dirty="0"/>
            <a:t>A01:2021-Broken Access Control</a:t>
          </a:r>
        </a:p>
      </dgm:t>
    </dgm:pt>
    <dgm:pt modelId="{80309589-6134-4295-9245-F339B9A8575B}" type="parTrans" cxnId="{40135D57-A943-4794-BECB-4FDD48675A97}">
      <dgm:prSet/>
      <dgm:spPr/>
      <dgm:t>
        <a:bodyPr/>
        <a:lstStyle/>
        <a:p>
          <a:endParaRPr lang="en-US"/>
        </a:p>
      </dgm:t>
    </dgm:pt>
    <dgm:pt modelId="{7E6F1592-671C-473E-9CF8-CC77FC7A70BA}" type="sibTrans" cxnId="{40135D57-A943-4794-BECB-4FDD48675A97}">
      <dgm:prSet/>
      <dgm:spPr/>
      <dgm:t>
        <a:bodyPr/>
        <a:lstStyle/>
        <a:p>
          <a:endParaRPr lang="en-US"/>
        </a:p>
      </dgm:t>
    </dgm:pt>
    <dgm:pt modelId="{0A2CA9AB-BF05-4115-B6B5-C724ACA1FF12}">
      <dgm:prSet/>
      <dgm:spPr/>
      <dgm:t>
        <a:bodyPr/>
        <a:lstStyle/>
        <a:p>
          <a:r>
            <a:rPr lang="en-US" dirty="0"/>
            <a:t>A02:2021-Cryptographic Failures</a:t>
          </a:r>
        </a:p>
      </dgm:t>
    </dgm:pt>
    <dgm:pt modelId="{B298B6D9-1A25-482D-AB32-D3C76F51557F}" type="parTrans" cxnId="{C297C7B4-4B73-4277-AC15-56EAD1ECBB98}">
      <dgm:prSet/>
      <dgm:spPr/>
      <dgm:t>
        <a:bodyPr/>
        <a:lstStyle/>
        <a:p>
          <a:endParaRPr lang="en-US"/>
        </a:p>
      </dgm:t>
    </dgm:pt>
    <dgm:pt modelId="{7C47E5D6-F1A2-4797-9B04-B47D36B7D3F7}" type="sibTrans" cxnId="{C297C7B4-4B73-4277-AC15-56EAD1ECBB98}">
      <dgm:prSet/>
      <dgm:spPr/>
      <dgm:t>
        <a:bodyPr/>
        <a:lstStyle/>
        <a:p>
          <a:endParaRPr lang="en-US"/>
        </a:p>
      </dgm:t>
    </dgm:pt>
    <dgm:pt modelId="{C21A7ED3-0965-4EC7-9203-F1AB3A0AC95E}">
      <dgm:prSet/>
      <dgm:spPr/>
      <dgm:t>
        <a:bodyPr/>
        <a:lstStyle/>
        <a:p>
          <a:r>
            <a:rPr lang="en-US" dirty="0"/>
            <a:t>A03:2021-Injection</a:t>
          </a:r>
        </a:p>
      </dgm:t>
    </dgm:pt>
    <dgm:pt modelId="{03259E82-EFB2-4AA4-8CD9-9CC214C22DB3}" type="parTrans" cxnId="{8CF8A6FF-B779-474A-9474-7400FCCAB269}">
      <dgm:prSet/>
      <dgm:spPr/>
      <dgm:t>
        <a:bodyPr/>
        <a:lstStyle/>
        <a:p>
          <a:endParaRPr lang="en-US"/>
        </a:p>
      </dgm:t>
    </dgm:pt>
    <dgm:pt modelId="{E0169E7D-CF6B-4DE3-B312-FC47D43FEF38}" type="sibTrans" cxnId="{8CF8A6FF-B779-474A-9474-7400FCCAB269}">
      <dgm:prSet/>
      <dgm:spPr/>
      <dgm:t>
        <a:bodyPr/>
        <a:lstStyle/>
        <a:p>
          <a:endParaRPr lang="en-US"/>
        </a:p>
      </dgm:t>
    </dgm:pt>
    <dgm:pt modelId="{5B8A87A0-74E4-4F2E-8320-7BDEE39402BC}">
      <dgm:prSet/>
      <dgm:spPr/>
      <dgm:t>
        <a:bodyPr/>
        <a:lstStyle/>
        <a:p>
          <a:r>
            <a:rPr lang="en-US" dirty="0"/>
            <a:t>A04:2021-Insecure Design</a:t>
          </a:r>
        </a:p>
      </dgm:t>
    </dgm:pt>
    <dgm:pt modelId="{5953FDF4-8279-4E95-9665-31E8AECE7FB8}" type="parTrans" cxnId="{5CA022A7-821A-4059-AC9C-E1C6C0277D0C}">
      <dgm:prSet/>
      <dgm:spPr/>
      <dgm:t>
        <a:bodyPr/>
        <a:lstStyle/>
        <a:p>
          <a:endParaRPr lang="en-US"/>
        </a:p>
      </dgm:t>
    </dgm:pt>
    <dgm:pt modelId="{0317B281-AEF1-42B8-A318-B55DB7A555F3}" type="sibTrans" cxnId="{5CA022A7-821A-4059-AC9C-E1C6C0277D0C}">
      <dgm:prSet/>
      <dgm:spPr/>
      <dgm:t>
        <a:bodyPr/>
        <a:lstStyle/>
        <a:p>
          <a:endParaRPr lang="en-US"/>
        </a:p>
      </dgm:t>
    </dgm:pt>
    <dgm:pt modelId="{1497836C-01DC-439A-A39D-2B78E830559A}">
      <dgm:prSet/>
      <dgm:spPr/>
      <dgm:t>
        <a:bodyPr/>
        <a:lstStyle/>
        <a:p>
          <a:r>
            <a:rPr lang="en-US" dirty="0"/>
            <a:t>A05:2021-Security Misconfiguration</a:t>
          </a:r>
        </a:p>
      </dgm:t>
    </dgm:pt>
    <dgm:pt modelId="{52B86AEC-DC6E-4B40-A5F3-D80BE0299F07}" type="parTrans" cxnId="{77C3FFE5-D8A1-4469-90AF-3C37D350BA06}">
      <dgm:prSet/>
      <dgm:spPr/>
      <dgm:t>
        <a:bodyPr/>
        <a:lstStyle/>
        <a:p>
          <a:endParaRPr lang="en-US"/>
        </a:p>
      </dgm:t>
    </dgm:pt>
    <dgm:pt modelId="{539217FC-0E1D-45A9-B978-1C81C349FC89}" type="sibTrans" cxnId="{77C3FFE5-D8A1-4469-90AF-3C37D350BA06}">
      <dgm:prSet/>
      <dgm:spPr/>
      <dgm:t>
        <a:bodyPr/>
        <a:lstStyle/>
        <a:p>
          <a:endParaRPr lang="en-US"/>
        </a:p>
      </dgm:t>
    </dgm:pt>
    <dgm:pt modelId="{8B459C05-5D33-4B77-9DC9-6B713D41891A}">
      <dgm:prSet/>
      <dgm:spPr/>
      <dgm:t>
        <a:bodyPr/>
        <a:lstStyle/>
        <a:p>
          <a:r>
            <a:rPr lang="en-US" dirty="0"/>
            <a:t>A4:2017-XML External Entities (XXE)</a:t>
          </a:r>
        </a:p>
      </dgm:t>
    </dgm:pt>
    <dgm:pt modelId="{6A2CAFE9-5523-4F74-8FF8-A1A38D04E2E5}" type="parTrans" cxnId="{8D1F9C82-DFAE-40E0-AA70-584DE79623E3}">
      <dgm:prSet/>
      <dgm:spPr/>
      <dgm:t>
        <a:bodyPr/>
        <a:lstStyle/>
        <a:p>
          <a:endParaRPr lang="en-US"/>
        </a:p>
      </dgm:t>
    </dgm:pt>
    <dgm:pt modelId="{56E0F197-1682-4668-8F3D-14B77860DD05}" type="sibTrans" cxnId="{8D1F9C82-DFAE-40E0-AA70-584DE79623E3}">
      <dgm:prSet/>
      <dgm:spPr/>
      <dgm:t>
        <a:bodyPr/>
        <a:lstStyle/>
        <a:p>
          <a:endParaRPr lang="en-US"/>
        </a:p>
      </dgm:t>
    </dgm:pt>
    <dgm:pt modelId="{6E37BD76-09A2-4076-9DC1-7594FC8E63B0}">
      <dgm:prSet/>
      <dgm:spPr/>
      <dgm:t>
        <a:bodyPr/>
        <a:lstStyle/>
        <a:p>
          <a:r>
            <a:rPr lang="en-US" dirty="0">
              <a:solidFill>
                <a:srgbClr val="FFFF00"/>
              </a:solidFill>
            </a:rPr>
            <a:t>A06:2021-Vulnerable and Outdated Components</a:t>
          </a:r>
        </a:p>
      </dgm:t>
    </dgm:pt>
    <dgm:pt modelId="{7DCAEBFC-2354-4284-8EEE-8B3F8DFECD9A}" type="parTrans" cxnId="{87539E97-CBB2-4191-85FD-E67A1E1B7831}">
      <dgm:prSet/>
      <dgm:spPr/>
      <dgm:t>
        <a:bodyPr/>
        <a:lstStyle/>
        <a:p>
          <a:endParaRPr lang="en-US"/>
        </a:p>
      </dgm:t>
    </dgm:pt>
    <dgm:pt modelId="{2A765AF8-09E6-404D-82F9-47600AEFBE5E}" type="sibTrans" cxnId="{87539E97-CBB2-4191-85FD-E67A1E1B7831}">
      <dgm:prSet/>
      <dgm:spPr/>
      <dgm:t>
        <a:bodyPr/>
        <a:lstStyle/>
        <a:p>
          <a:endParaRPr lang="en-US"/>
        </a:p>
      </dgm:t>
    </dgm:pt>
    <dgm:pt modelId="{92418696-FA39-4239-9A6D-9C4627DF4159}">
      <dgm:prSet/>
      <dgm:spPr/>
      <dgm:t>
        <a:bodyPr/>
        <a:lstStyle/>
        <a:p>
          <a:r>
            <a:rPr lang="en-US" dirty="0"/>
            <a:t>A07:2021-Identification and Authentication Failures</a:t>
          </a:r>
        </a:p>
      </dgm:t>
    </dgm:pt>
    <dgm:pt modelId="{57897953-0FBE-48D7-9CCA-0DFEDB3ED755}" type="parTrans" cxnId="{1B1F1E63-9F11-4EA0-9FFD-08FD3D7FB286}">
      <dgm:prSet/>
      <dgm:spPr/>
      <dgm:t>
        <a:bodyPr/>
        <a:lstStyle/>
        <a:p>
          <a:endParaRPr lang="en-US"/>
        </a:p>
      </dgm:t>
    </dgm:pt>
    <dgm:pt modelId="{43D7068D-F8CC-4701-A828-D95EB17607DB}" type="sibTrans" cxnId="{1B1F1E63-9F11-4EA0-9FFD-08FD3D7FB286}">
      <dgm:prSet/>
      <dgm:spPr/>
      <dgm:t>
        <a:bodyPr/>
        <a:lstStyle/>
        <a:p>
          <a:endParaRPr lang="en-US"/>
        </a:p>
      </dgm:t>
    </dgm:pt>
    <dgm:pt modelId="{E8EFE467-9ADF-4168-B6FD-A5808D80854D}">
      <dgm:prSet/>
      <dgm:spPr/>
      <dgm:t>
        <a:bodyPr/>
        <a:lstStyle/>
        <a:p>
          <a:r>
            <a:rPr lang="en-US" dirty="0"/>
            <a:t>A08:2021-Software and Data Integrity Failures</a:t>
          </a:r>
        </a:p>
      </dgm:t>
    </dgm:pt>
    <dgm:pt modelId="{7886FB19-18F3-4170-B362-316A373948CD}" type="parTrans" cxnId="{68B8350D-F247-4760-8946-588B94D34BE4}">
      <dgm:prSet/>
      <dgm:spPr/>
      <dgm:t>
        <a:bodyPr/>
        <a:lstStyle/>
        <a:p>
          <a:endParaRPr lang="en-US"/>
        </a:p>
      </dgm:t>
    </dgm:pt>
    <dgm:pt modelId="{0D196D25-1D89-4912-A117-CFA123F943DC}" type="sibTrans" cxnId="{68B8350D-F247-4760-8946-588B94D34BE4}">
      <dgm:prSet/>
      <dgm:spPr/>
      <dgm:t>
        <a:bodyPr/>
        <a:lstStyle/>
        <a:p>
          <a:endParaRPr lang="en-US"/>
        </a:p>
      </dgm:t>
    </dgm:pt>
    <dgm:pt modelId="{C71D1268-5B25-419E-8F0A-68B433702C2C}">
      <dgm:prSet/>
      <dgm:spPr/>
      <dgm:t>
        <a:bodyPr/>
        <a:lstStyle/>
        <a:p>
          <a:r>
            <a:rPr lang="en-US" dirty="0"/>
            <a:t>A09:2021-Security Logging and Monitoring Failures</a:t>
          </a:r>
        </a:p>
      </dgm:t>
    </dgm:pt>
    <dgm:pt modelId="{252A8A81-7A63-4F16-B2BA-2D0D8F3E26CB}" type="parTrans" cxnId="{3A5B126F-3CFA-404A-89C3-93A0ECC2E26F}">
      <dgm:prSet/>
      <dgm:spPr/>
      <dgm:t>
        <a:bodyPr/>
        <a:lstStyle/>
        <a:p>
          <a:endParaRPr lang="en-US"/>
        </a:p>
      </dgm:t>
    </dgm:pt>
    <dgm:pt modelId="{49A97459-DFF1-4A08-97F5-4FAFE2353008}" type="sibTrans" cxnId="{3A5B126F-3CFA-404A-89C3-93A0ECC2E26F}">
      <dgm:prSet/>
      <dgm:spPr/>
      <dgm:t>
        <a:bodyPr/>
        <a:lstStyle/>
        <a:p>
          <a:endParaRPr lang="en-US"/>
        </a:p>
      </dgm:t>
    </dgm:pt>
    <dgm:pt modelId="{E88340D6-FF10-4DE8-AAC8-BB634FAC23BF}">
      <dgm:prSet/>
      <dgm:spPr/>
      <dgm:t>
        <a:bodyPr/>
        <a:lstStyle/>
        <a:p>
          <a:r>
            <a:rPr lang="en-US" dirty="0"/>
            <a:t>A10:2021-Server-Side Request Forgery</a:t>
          </a:r>
        </a:p>
      </dgm:t>
    </dgm:pt>
    <dgm:pt modelId="{2BD8871F-E56F-4093-91A7-506C434A95A1}" type="parTrans" cxnId="{D578DE2E-4227-4A77-A298-E937DAE7143C}">
      <dgm:prSet/>
      <dgm:spPr/>
      <dgm:t>
        <a:bodyPr/>
        <a:lstStyle/>
        <a:p>
          <a:endParaRPr lang="en-US"/>
        </a:p>
      </dgm:t>
    </dgm:pt>
    <dgm:pt modelId="{15B137D0-0D48-4DCD-A2C7-794A3E1E9AD2}" type="sibTrans" cxnId="{D578DE2E-4227-4A77-A298-E937DAE7143C}">
      <dgm:prSet/>
      <dgm:spPr/>
      <dgm:t>
        <a:bodyPr/>
        <a:lstStyle/>
        <a:p>
          <a:endParaRPr lang="en-US"/>
        </a:p>
      </dgm:t>
    </dgm:pt>
    <dgm:pt modelId="{B3662349-DA11-403A-B0B4-9B2F07F41486}" type="pres">
      <dgm:prSet presAssocID="{269254DC-F33D-494B-BEDA-CD5C9695D485}" presName="diagram" presStyleCnt="0">
        <dgm:presLayoutVars>
          <dgm:dir/>
          <dgm:resizeHandles val="exact"/>
        </dgm:presLayoutVars>
      </dgm:prSet>
      <dgm:spPr/>
    </dgm:pt>
    <dgm:pt modelId="{2596BBF8-2A50-49E6-B6AD-B8020440EEC8}" type="pres">
      <dgm:prSet presAssocID="{4A91DD6E-D615-400A-86C4-0CA7053BE5CB}" presName="node" presStyleLbl="node1" presStyleIdx="0" presStyleCnt="11">
        <dgm:presLayoutVars>
          <dgm:bulletEnabled val="1"/>
        </dgm:presLayoutVars>
      </dgm:prSet>
      <dgm:spPr/>
    </dgm:pt>
    <dgm:pt modelId="{C07BE059-0567-41B3-83E0-6FB3C4EF461D}" type="pres">
      <dgm:prSet presAssocID="{7E6F1592-671C-473E-9CF8-CC77FC7A70BA}" presName="sibTrans" presStyleCnt="0"/>
      <dgm:spPr/>
    </dgm:pt>
    <dgm:pt modelId="{090B9F50-E635-4B69-B9C4-13C06F5EFF2C}" type="pres">
      <dgm:prSet presAssocID="{0A2CA9AB-BF05-4115-B6B5-C724ACA1FF12}" presName="node" presStyleLbl="node1" presStyleIdx="1" presStyleCnt="11">
        <dgm:presLayoutVars>
          <dgm:bulletEnabled val="1"/>
        </dgm:presLayoutVars>
      </dgm:prSet>
      <dgm:spPr/>
    </dgm:pt>
    <dgm:pt modelId="{05FD6F75-3F7C-4FF5-B322-B45E71732F7B}" type="pres">
      <dgm:prSet presAssocID="{7C47E5D6-F1A2-4797-9B04-B47D36B7D3F7}" presName="sibTrans" presStyleCnt="0"/>
      <dgm:spPr/>
    </dgm:pt>
    <dgm:pt modelId="{AF5EEEE8-979E-4710-B90D-08BE743CEF89}" type="pres">
      <dgm:prSet presAssocID="{C21A7ED3-0965-4EC7-9203-F1AB3A0AC95E}" presName="node" presStyleLbl="node1" presStyleIdx="2" presStyleCnt="11">
        <dgm:presLayoutVars>
          <dgm:bulletEnabled val="1"/>
        </dgm:presLayoutVars>
      </dgm:prSet>
      <dgm:spPr/>
    </dgm:pt>
    <dgm:pt modelId="{C28B3C15-7E11-4D38-BF97-769449A153DE}" type="pres">
      <dgm:prSet presAssocID="{E0169E7D-CF6B-4DE3-B312-FC47D43FEF38}" presName="sibTrans" presStyleCnt="0"/>
      <dgm:spPr/>
    </dgm:pt>
    <dgm:pt modelId="{399F358D-9020-4CE0-BC1A-CC202D40E450}" type="pres">
      <dgm:prSet presAssocID="{5B8A87A0-74E4-4F2E-8320-7BDEE39402BC}" presName="node" presStyleLbl="node1" presStyleIdx="3" presStyleCnt="11">
        <dgm:presLayoutVars>
          <dgm:bulletEnabled val="1"/>
        </dgm:presLayoutVars>
      </dgm:prSet>
      <dgm:spPr/>
    </dgm:pt>
    <dgm:pt modelId="{0D68A776-FEE5-4BCC-AD2E-F650C0AD8DD8}" type="pres">
      <dgm:prSet presAssocID="{0317B281-AEF1-42B8-A318-B55DB7A555F3}" presName="sibTrans" presStyleCnt="0"/>
      <dgm:spPr/>
    </dgm:pt>
    <dgm:pt modelId="{7705C0EB-F1C1-4ABF-93A2-DDF35D65811B}" type="pres">
      <dgm:prSet presAssocID="{1497836C-01DC-439A-A39D-2B78E830559A}" presName="node" presStyleLbl="node1" presStyleIdx="4" presStyleCnt="11">
        <dgm:presLayoutVars>
          <dgm:bulletEnabled val="1"/>
        </dgm:presLayoutVars>
      </dgm:prSet>
      <dgm:spPr/>
    </dgm:pt>
    <dgm:pt modelId="{6BE2CEB2-1338-4781-9664-CAFCFB194FF9}" type="pres">
      <dgm:prSet presAssocID="{539217FC-0E1D-45A9-B978-1C81C349FC89}" presName="sibTrans" presStyleCnt="0"/>
      <dgm:spPr/>
    </dgm:pt>
    <dgm:pt modelId="{B71DF2AD-F768-464F-A5DA-514CC98B2075}" type="pres">
      <dgm:prSet presAssocID="{8B459C05-5D33-4B77-9DC9-6B713D41891A}" presName="node" presStyleLbl="node1" presStyleIdx="5" presStyleCnt="11">
        <dgm:presLayoutVars>
          <dgm:bulletEnabled val="1"/>
        </dgm:presLayoutVars>
      </dgm:prSet>
      <dgm:spPr/>
    </dgm:pt>
    <dgm:pt modelId="{3B51FF0E-C480-4F6F-8908-D604E0390EAC}" type="pres">
      <dgm:prSet presAssocID="{56E0F197-1682-4668-8F3D-14B77860DD05}" presName="sibTrans" presStyleCnt="0"/>
      <dgm:spPr/>
    </dgm:pt>
    <dgm:pt modelId="{93B596E6-B759-414A-B14D-51E347D66BDA}" type="pres">
      <dgm:prSet presAssocID="{6E37BD76-09A2-4076-9DC1-7594FC8E63B0}" presName="node" presStyleLbl="node1" presStyleIdx="6" presStyleCnt="11">
        <dgm:presLayoutVars>
          <dgm:bulletEnabled val="1"/>
        </dgm:presLayoutVars>
      </dgm:prSet>
      <dgm:spPr/>
    </dgm:pt>
    <dgm:pt modelId="{D8FE4CC1-AAAA-4902-8A6C-E5F02F1ED52F}" type="pres">
      <dgm:prSet presAssocID="{2A765AF8-09E6-404D-82F9-47600AEFBE5E}" presName="sibTrans" presStyleCnt="0"/>
      <dgm:spPr/>
    </dgm:pt>
    <dgm:pt modelId="{34FD657F-5D0E-4674-BC88-C5CAC64CB061}" type="pres">
      <dgm:prSet presAssocID="{92418696-FA39-4239-9A6D-9C4627DF4159}" presName="node" presStyleLbl="node1" presStyleIdx="7" presStyleCnt="11">
        <dgm:presLayoutVars>
          <dgm:bulletEnabled val="1"/>
        </dgm:presLayoutVars>
      </dgm:prSet>
      <dgm:spPr/>
    </dgm:pt>
    <dgm:pt modelId="{F788B248-9EF9-485F-A7CF-421227B455DE}" type="pres">
      <dgm:prSet presAssocID="{43D7068D-F8CC-4701-A828-D95EB17607DB}" presName="sibTrans" presStyleCnt="0"/>
      <dgm:spPr/>
    </dgm:pt>
    <dgm:pt modelId="{6184D74A-C81D-4C76-B625-3876BF2EDF99}" type="pres">
      <dgm:prSet presAssocID="{E8EFE467-9ADF-4168-B6FD-A5808D80854D}" presName="node" presStyleLbl="node1" presStyleIdx="8" presStyleCnt="11">
        <dgm:presLayoutVars>
          <dgm:bulletEnabled val="1"/>
        </dgm:presLayoutVars>
      </dgm:prSet>
      <dgm:spPr/>
    </dgm:pt>
    <dgm:pt modelId="{17B94CBB-49C2-46F0-87D7-C45A97E911FE}" type="pres">
      <dgm:prSet presAssocID="{0D196D25-1D89-4912-A117-CFA123F943DC}" presName="sibTrans" presStyleCnt="0"/>
      <dgm:spPr/>
    </dgm:pt>
    <dgm:pt modelId="{62A2CCF8-9069-4EA1-97B4-BD2D1D965ECC}" type="pres">
      <dgm:prSet presAssocID="{C71D1268-5B25-419E-8F0A-68B433702C2C}" presName="node" presStyleLbl="node1" presStyleIdx="9" presStyleCnt="11">
        <dgm:presLayoutVars>
          <dgm:bulletEnabled val="1"/>
        </dgm:presLayoutVars>
      </dgm:prSet>
      <dgm:spPr/>
    </dgm:pt>
    <dgm:pt modelId="{CAB8277F-128F-41F1-9238-F4A68BD3F6A8}" type="pres">
      <dgm:prSet presAssocID="{49A97459-DFF1-4A08-97F5-4FAFE2353008}" presName="sibTrans" presStyleCnt="0"/>
      <dgm:spPr/>
    </dgm:pt>
    <dgm:pt modelId="{9DE950E3-3437-4736-B8EB-EF392E3F063A}" type="pres">
      <dgm:prSet presAssocID="{E88340D6-FF10-4DE8-AAC8-BB634FAC23BF}" presName="node" presStyleLbl="node1" presStyleIdx="10" presStyleCnt="11">
        <dgm:presLayoutVars>
          <dgm:bulletEnabled val="1"/>
        </dgm:presLayoutVars>
      </dgm:prSet>
      <dgm:spPr/>
    </dgm:pt>
  </dgm:ptLst>
  <dgm:cxnLst>
    <dgm:cxn modelId="{68B8350D-F247-4760-8946-588B94D34BE4}" srcId="{269254DC-F33D-494B-BEDA-CD5C9695D485}" destId="{E8EFE467-9ADF-4168-B6FD-A5808D80854D}" srcOrd="8" destOrd="0" parTransId="{7886FB19-18F3-4170-B362-316A373948CD}" sibTransId="{0D196D25-1D89-4912-A117-CFA123F943DC}"/>
    <dgm:cxn modelId="{D578DE2E-4227-4A77-A298-E937DAE7143C}" srcId="{269254DC-F33D-494B-BEDA-CD5C9695D485}" destId="{E88340D6-FF10-4DE8-AAC8-BB634FAC23BF}" srcOrd="10" destOrd="0" parTransId="{2BD8871F-E56F-4093-91A7-506C434A95A1}" sibTransId="{15B137D0-0D48-4DCD-A2C7-794A3E1E9AD2}"/>
    <dgm:cxn modelId="{2D7EA362-4103-4CEA-86C0-F685EB3876FA}" type="presOf" srcId="{E8EFE467-9ADF-4168-B6FD-A5808D80854D}" destId="{6184D74A-C81D-4C76-B625-3876BF2EDF99}" srcOrd="0" destOrd="0" presId="urn:microsoft.com/office/officeart/2005/8/layout/default"/>
    <dgm:cxn modelId="{1B1F1E63-9F11-4EA0-9FFD-08FD3D7FB286}" srcId="{269254DC-F33D-494B-BEDA-CD5C9695D485}" destId="{92418696-FA39-4239-9A6D-9C4627DF4159}" srcOrd="7" destOrd="0" parTransId="{57897953-0FBE-48D7-9CCA-0DFEDB3ED755}" sibTransId="{43D7068D-F8CC-4701-A828-D95EB17607DB}"/>
    <dgm:cxn modelId="{33FB274B-70B6-4592-BD8B-51DFB06E5F98}" type="presOf" srcId="{92418696-FA39-4239-9A6D-9C4627DF4159}" destId="{34FD657F-5D0E-4674-BC88-C5CAC64CB061}" srcOrd="0" destOrd="0" presId="urn:microsoft.com/office/officeart/2005/8/layout/default"/>
    <dgm:cxn modelId="{3A5B126F-3CFA-404A-89C3-93A0ECC2E26F}" srcId="{269254DC-F33D-494B-BEDA-CD5C9695D485}" destId="{C71D1268-5B25-419E-8F0A-68B433702C2C}" srcOrd="9" destOrd="0" parTransId="{252A8A81-7A63-4F16-B2BA-2D0D8F3E26CB}" sibTransId="{49A97459-DFF1-4A08-97F5-4FAFE2353008}"/>
    <dgm:cxn modelId="{ED1B7C70-24A3-48B1-9234-37C3AC64795A}" type="presOf" srcId="{6E37BD76-09A2-4076-9DC1-7594FC8E63B0}" destId="{93B596E6-B759-414A-B14D-51E347D66BDA}" srcOrd="0" destOrd="0" presId="urn:microsoft.com/office/officeart/2005/8/layout/default"/>
    <dgm:cxn modelId="{37F04F54-3DE1-4AA5-B3EA-E905B47D180D}" type="presOf" srcId="{5B8A87A0-74E4-4F2E-8320-7BDEE39402BC}" destId="{399F358D-9020-4CE0-BC1A-CC202D40E450}" srcOrd="0" destOrd="0" presId="urn:microsoft.com/office/officeart/2005/8/layout/default"/>
    <dgm:cxn modelId="{40135D57-A943-4794-BECB-4FDD48675A97}" srcId="{269254DC-F33D-494B-BEDA-CD5C9695D485}" destId="{4A91DD6E-D615-400A-86C4-0CA7053BE5CB}" srcOrd="0" destOrd="0" parTransId="{80309589-6134-4295-9245-F339B9A8575B}" sibTransId="{7E6F1592-671C-473E-9CF8-CC77FC7A70BA}"/>
    <dgm:cxn modelId="{8D1F9C82-DFAE-40E0-AA70-584DE79623E3}" srcId="{269254DC-F33D-494B-BEDA-CD5C9695D485}" destId="{8B459C05-5D33-4B77-9DC9-6B713D41891A}" srcOrd="5" destOrd="0" parTransId="{6A2CAFE9-5523-4F74-8FF8-A1A38D04E2E5}" sibTransId="{56E0F197-1682-4668-8F3D-14B77860DD05}"/>
    <dgm:cxn modelId="{87539E97-CBB2-4191-85FD-E67A1E1B7831}" srcId="{269254DC-F33D-494B-BEDA-CD5C9695D485}" destId="{6E37BD76-09A2-4076-9DC1-7594FC8E63B0}" srcOrd="6" destOrd="0" parTransId="{7DCAEBFC-2354-4284-8EEE-8B3F8DFECD9A}" sibTransId="{2A765AF8-09E6-404D-82F9-47600AEFBE5E}"/>
    <dgm:cxn modelId="{6CFE44A4-B4A0-473A-8925-203B12F8679E}" type="presOf" srcId="{8B459C05-5D33-4B77-9DC9-6B713D41891A}" destId="{B71DF2AD-F768-464F-A5DA-514CC98B2075}" srcOrd="0" destOrd="0" presId="urn:microsoft.com/office/officeart/2005/8/layout/default"/>
    <dgm:cxn modelId="{73199CA6-8B1E-45CB-9FE6-FECABFB58508}" type="presOf" srcId="{C71D1268-5B25-419E-8F0A-68B433702C2C}" destId="{62A2CCF8-9069-4EA1-97B4-BD2D1D965ECC}" srcOrd="0" destOrd="0" presId="urn:microsoft.com/office/officeart/2005/8/layout/default"/>
    <dgm:cxn modelId="{5CA022A7-821A-4059-AC9C-E1C6C0277D0C}" srcId="{269254DC-F33D-494B-BEDA-CD5C9695D485}" destId="{5B8A87A0-74E4-4F2E-8320-7BDEE39402BC}" srcOrd="3" destOrd="0" parTransId="{5953FDF4-8279-4E95-9665-31E8AECE7FB8}" sibTransId="{0317B281-AEF1-42B8-A318-B55DB7A555F3}"/>
    <dgm:cxn modelId="{12BF80A9-4254-490C-8E7B-705121539149}" type="presOf" srcId="{C21A7ED3-0965-4EC7-9203-F1AB3A0AC95E}" destId="{AF5EEEE8-979E-4710-B90D-08BE743CEF89}" srcOrd="0" destOrd="0" presId="urn:microsoft.com/office/officeart/2005/8/layout/default"/>
    <dgm:cxn modelId="{C297C7B4-4B73-4277-AC15-56EAD1ECBB98}" srcId="{269254DC-F33D-494B-BEDA-CD5C9695D485}" destId="{0A2CA9AB-BF05-4115-B6B5-C724ACA1FF12}" srcOrd="1" destOrd="0" parTransId="{B298B6D9-1A25-482D-AB32-D3C76F51557F}" sibTransId="{7C47E5D6-F1A2-4797-9B04-B47D36B7D3F7}"/>
    <dgm:cxn modelId="{DAEC84C3-BF12-43BA-8597-EF7396DDF5E4}" type="presOf" srcId="{E88340D6-FF10-4DE8-AAC8-BB634FAC23BF}" destId="{9DE950E3-3437-4736-B8EB-EF392E3F063A}" srcOrd="0" destOrd="0" presId="urn:microsoft.com/office/officeart/2005/8/layout/default"/>
    <dgm:cxn modelId="{EF3B8FC3-6100-4DD3-9F88-CDFDC432979F}" type="presOf" srcId="{269254DC-F33D-494B-BEDA-CD5C9695D485}" destId="{B3662349-DA11-403A-B0B4-9B2F07F41486}" srcOrd="0" destOrd="0" presId="urn:microsoft.com/office/officeart/2005/8/layout/default"/>
    <dgm:cxn modelId="{AEDB66DB-8FA1-4803-9F01-68ED6292E79C}" type="presOf" srcId="{1497836C-01DC-439A-A39D-2B78E830559A}" destId="{7705C0EB-F1C1-4ABF-93A2-DDF35D65811B}" srcOrd="0" destOrd="0" presId="urn:microsoft.com/office/officeart/2005/8/layout/default"/>
    <dgm:cxn modelId="{0F4F07DD-601D-425D-B159-CD88DCDE1151}" type="presOf" srcId="{4A91DD6E-D615-400A-86C4-0CA7053BE5CB}" destId="{2596BBF8-2A50-49E6-B6AD-B8020440EEC8}" srcOrd="0" destOrd="0" presId="urn:microsoft.com/office/officeart/2005/8/layout/default"/>
    <dgm:cxn modelId="{77C3FFE5-D8A1-4469-90AF-3C37D350BA06}" srcId="{269254DC-F33D-494B-BEDA-CD5C9695D485}" destId="{1497836C-01DC-439A-A39D-2B78E830559A}" srcOrd="4" destOrd="0" parTransId="{52B86AEC-DC6E-4B40-A5F3-D80BE0299F07}" sibTransId="{539217FC-0E1D-45A9-B978-1C81C349FC89}"/>
    <dgm:cxn modelId="{43F37EFA-0139-4C09-AD9E-CF8B80D899A8}" type="presOf" srcId="{0A2CA9AB-BF05-4115-B6B5-C724ACA1FF12}" destId="{090B9F50-E635-4B69-B9C4-13C06F5EFF2C}" srcOrd="0" destOrd="0" presId="urn:microsoft.com/office/officeart/2005/8/layout/default"/>
    <dgm:cxn modelId="{8CF8A6FF-B779-474A-9474-7400FCCAB269}" srcId="{269254DC-F33D-494B-BEDA-CD5C9695D485}" destId="{C21A7ED3-0965-4EC7-9203-F1AB3A0AC95E}" srcOrd="2" destOrd="0" parTransId="{03259E82-EFB2-4AA4-8CD9-9CC214C22DB3}" sibTransId="{E0169E7D-CF6B-4DE3-B312-FC47D43FEF38}"/>
    <dgm:cxn modelId="{35E29AF6-77FE-4C6A-A1A1-DE04D53BD42B}" type="presParOf" srcId="{B3662349-DA11-403A-B0B4-9B2F07F41486}" destId="{2596BBF8-2A50-49E6-B6AD-B8020440EEC8}" srcOrd="0" destOrd="0" presId="urn:microsoft.com/office/officeart/2005/8/layout/default"/>
    <dgm:cxn modelId="{7D94982C-B45D-462C-99B5-634C2761A1E1}" type="presParOf" srcId="{B3662349-DA11-403A-B0B4-9B2F07F41486}" destId="{C07BE059-0567-41B3-83E0-6FB3C4EF461D}" srcOrd="1" destOrd="0" presId="urn:microsoft.com/office/officeart/2005/8/layout/default"/>
    <dgm:cxn modelId="{34089FCC-5D0F-4EE3-A4B2-11CBF12B978A}" type="presParOf" srcId="{B3662349-DA11-403A-B0B4-9B2F07F41486}" destId="{090B9F50-E635-4B69-B9C4-13C06F5EFF2C}" srcOrd="2" destOrd="0" presId="urn:microsoft.com/office/officeart/2005/8/layout/default"/>
    <dgm:cxn modelId="{0C227AE0-1961-4919-9F2D-564B3A2CF963}" type="presParOf" srcId="{B3662349-DA11-403A-B0B4-9B2F07F41486}" destId="{05FD6F75-3F7C-4FF5-B322-B45E71732F7B}" srcOrd="3" destOrd="0" presId="urn:microsoft.com/office/officeart/2005/8/layout/default"/>
    <dgm:cxn modelId="{8E90FC9D-CA7B-4D99-8ECD-CBCBDEF218C3}" type="presParOf" srcId="{B3662349-DA11-403A-B0B4-9B2F07F41486}" destId="{AF5EEEE8-979E-4710-B90D-08BE743CEF89}" srcOrd="4" destOrd="0" presId="urn:microsoft.com/office/officeart/2005/8/layout/default"/>
    <dgm:cxn modelId="{6668F2ED-2FEB-4EDA-86C7-FDC01268E752}" type="presParOf" srcId="{B3662349-DA11-403A-B0B4-9B2F07F41486}" destId="{C28B3C15-7E11-4D38-BF97-769449A153DE}" srcOrd="5" destOrd="0" presId="urn:microsoft.com/office/officeart/2005/8/layout/default"/>
    <dgm:cxn modelId="{D13F6DE5-37F6-4C3B-BAD9-832A53A88B76}" type="presParOf" srcId="{B3662349-DA11-403A-B0B4-9B2F07F41486}" destId="{399F358D-9020-4CE0-BC1A-CC202D40E450}" srcOrd="6" destOrd="0" presId="urn:microsoft.com/office/officeart/2005/8/layout/default"/>
    <dgm:cxn modelId="{553D2745-2498-4B1B-A1A3-3272A491A789}" type="presParOf" srcId="{B3662349-DA11-403A-B0B4-9B2F07F41486}" destId="{0D68A776-FEE5-4BCC-AD2E-F650C0AD8DD8}" srcOrd="7" destOrd="0" presId="urn:microsoft.com/office/officeart/2005/8/layout/default"/>
    <dgm:cxn modelId="{D7EE6B5E-4B82-4A79-A5AC-86828995D620}" type="presParOf" srcId="{B3662349-DA11-403A-B0B4-9B2F07F41486}" destId="{7705C0EB-F1C1-4ABF-93A2-DDF35D65811B}" srcOrd="8" destOrd="0" presId="urn:microsoft.com/office/officeart/2005/8/layout/default"/>
    <dgm:cxn modelId="{31D3F1E0-F6EC-416A-96A9-9B3FA5FB6A14}" type="presParOf" srcId="{B3662349-DA11-403A-B0B4-9B2F07F41486}" destId="{6BE2CEB2-1338-4781-9664-CAFCFB194FF9}" srcOrd="9" destOrd="0" presId="urn:microsoft.com/office/officeart/2005/8/layout/default"/>
    <dgm:cxn modelId="{FB5F66CB-F9CD-4C6E-8C31-F65B1D2370CE}" type="presParOf" srcId="{B3662349-DA11-403A-B0B4-9B2F07F41486}" destId="{B71DF2AD-F768-464F-A5DA-514CC98B2075}" srcOrd="10" destOrd="0" presId="urn:microsoft.com/office/officeart/2005/8/layout/default"/>
    <dgm:cxn modelId="{131BBEC6-A150-4FA7-B343-E6A3B80F238C}" type="presParOf" srcId="{B3662349-DA11-403A-B0B4-9B2F07F41486}" destId="{3B51FF0E-C480-4F6F-8908-D604E0390EAC}" srcOrd="11" destOrd="0" presId="urn:microsoft.com/office/officeart/2005/8/layout/default"/>
    <dgm:cxn modelId="{D15E46A2-6497-4616-BBCA-FEB1C3774C43}" type="presParOf" srcId="{B3662349-DA11-403A-B0B4-9B2F07F41486}" destId="{93B596E6-B759-414A-B14D-51E347D66BDA}" srcOrd="12" destOrd="0" presId="urn:microsoft.com/office/officeart/2005/8/layout/default"/>
    <dgm:cxn modelId="{065BB88F-7424-4E52-824F-A464DFBD6D18}" type="presParOf" srcId="{B3662349-DA11-403A-B0B4-9B2F07F41486}" destId="{D8FE4CC1-AAAA-4902-8A6C-E5F02F1ED52F}" srcOrd="13" destOrd="0" presId="urn:microsoft.com/office/officeart/2005/8/layout/default"/>
    <dgm:cxn modelId="{568E7D87-EE6E-477F-9DF8-8032A14E393F}" type="presParOf" srcId="{B3662349-DA11-403A-B0B4-9B2F07F41486}" destId="{34FD657F-5D0E-4674-BC88-C5CAC64CB061}" srcOrd="14" destOrd="0" presId="urn:microsoft.com/office/officeart/2005/8/layout/default"/>
    <dgm:cxn modelId="{B954C60C-B200-4DA0-8B6B-0F0FF3E27C4F}" type="presParOf" srcId="{B3662349-DA11-403A-B0B4-9B2F07F41486}" destId="{F788B248-9EF9-485F-A7CF-421227B455DE}" srcOrd="15" destOrd="0" presId="urn:microsoft.com/office/officeart/2005/8/layout/default"/>
    <dgm:cxn modelId="{2423349E-4A7F-4D8B-A318-1D12732B2BE1}" type="presParOf" srcId="{B3662349-DA11-403A-B0B4-9B2F07F41486}" destId="{6184D74A-C81D-4C76-B625-3876BF2EDF99}" srcOrd="16" destOrd="0" presId="urn:microsoft.com/office/officeart/2005/8/layout/default"/>
    <dgm:cxn modelId="{35BADE16-FAF0-4392-917C-A3AE5D13A0DF}" type="presParOf" srcId="{B3662349-DA11-403A-B0B4-9B2F07F41486}" destId="{17B94CBB-49C2-46F0-87D7-C45A97E911FE}" srcOrd="17" destOrd="0" presId="urn:microsoft.com/office/officeart/2005/8/layout/default"/>
    <dgm:cxn modelId="{B6E3FDD3-5200-449A-A9E3-CC89049BCA8A}" type="presParOf" srcId="{B3662349-DA11-403A-B0B4-9B2F07F41486}" destId="{62A2CCF8-9069-4EA1-97B4-BD2D1D965ECC}" srcOrd="18" destOrd="0" presId="urn:microsoft.com/office/officeart/2005/8/layout/default"/>
    <dgm:cxn modelId="{D4B30E61-EB3C-4229-94D8-E08E0F7FD7CB}" type="presParOf" srcId="{B3662349-DA11-403A-B0B4-9B2F07F41486}" destId="{CAB8277F-128F-41F1-9238-F4A68BD3F6A8}" srcOrd="19" destOrd="0" presId="urn:microsoft.com/office/officeart/2005/8/layout/default"/>
    <dgm:cxn modelId="{5900D924-B1D8-454C-9B29-87ED7C0A7273}" type="presParOf" srcId="{B3662349-DA11-403A-B0B4-9B2F07F41486}" destId="{9DE950E3-3437-4736-B8EB-EF392E3F063A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4DFE33-BB87-4C83-91E9-72F1CAEBC418}">
      <dsp:nvSpPr>
        <dsp:cNvPr id="0" name=""/>
        <dsp:cNvSpPr/>
      </dsp:nvSpPr>
      <dsp:spPr>
        <a:xfrm>
          <a:off x="24068" y="119055"/>
          <a:ext cx="2382923" cy="14297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OWASP Top 10</a:t>
          </a:r>
        </a:p>
      </dsp:txBody>
      <dsp:txXfrm>
        <a:off x="24068" y="119055"/>
        <a:ext cx="2382923" cy="1429754"/>
      </dsp:txXfrm>
    </dsp:sp>
    <dsp:sp modelId="{B95ACC65-35EF-4DEB-A917-A89FA3458987}">
      <dsp:nvSpPr>
        <dsp:cNvPr id="0" name=""/>
        <dsp:cNvSpPr/>
      </dsp:nvSpPr>
      <dsp:spPr>
        <a:xfrm>
          <a:off x="2624219" y="152983"/>
          <a:ext cx="2382923" cy="142975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Webgoat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24219" y="152983"/>
        <a:ext cx="2382923" cy="1429754"/>
      </dsp:txXfrm>
    </dsp:sp>
    <dsp:sp modelId="{D7A8377E-28D6-4A43-8825-0923F46F8C82}">
      <dsp:nvSpPr>
        <dsp:cNvPr id="0" name=""/>
        <dsp:cNvSpPr/>
      </dsp:nvSpPr>
      <dsp:spPr>
        <a:xfrm>
          <a:off x="5245436" y="152983"/>
          <a:ext cx="2382923" cy="142975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Zed Attack Proxy (ZAP)</a:t>
          </a:r>
        </a:p>
      </dsp:txBody>
      <dsp:txXfrm>
        <a:off x="5245436" y="152983"/>
        <a:ext cx="2382923" cy="1429754"/>
      </dsp:txXfrm>
    </dsp:sp>
    <dsp:sp modelId="{A4762D0E-A541-48DB-815E-06BBAE83AABE}">
      <dsp:nvSpPr>
        <dsp:cNvPr id="0" name=""/>
        <dsp:cNvSpPr/>
      </dsp:nvSpPr>
      <dsp:spPr>
        <a:xfrm>
          <a:off x="7866652" y="152983"/>
          <a:ext cx="2382923" cy="142975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Web Security and Testing Guide</a:t>
          </a:r>
        </a:p>
      </dsp:txBody>
      <dsp:txXfrm>
        <a:off x="7866652" y="152983"/>
        <a:ext cx="2382923" cy="1429754"/>
      </dsp:txXfrm>
    </dsp:sp>
    <dsp:sp modelId="{6F04CC69-6941-4B53-8D26-0DC457DDB551}">
      <dsp:nvSpPr>
        <dsp:cNvPr id="0" name=""/>
        <dsp:cNvSpPr/>
      </dsp:nvSpPr>
      <dsp:spPr>
        <a:xfrm>
          <a:off x="1313611" y="1821030"/>
          <a:ext cx="2382923" cy="142975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Juice Shop</a:t>
          </a:r>
        </a:p>
      </dsp:txBody>
      <dsp:txXfrm>
        <a:off x="1313611" y="1821030"/>
        <a:ext cx="2382923" cy="1429754"/>
      </dsp:txXfrm>
    </dsp:sp>
    <dsp:sp modelId="{3594EADC-E1BD-4F34-BD37-9409A0B5738B}">
      <dsp:nvSpPr>
        <dsp:cNvPr id="0" name=""/>
        <dsp:cNvSpPr/>
      </dsp:nvSpPr>
      <dsp:spPr>
        <a:xfrm>
          <a:off x="3934828" y="1821030"/>
          <a:ext cx="2382923" cy="14297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Mobile Security Testing Guide</a:t>
          </a:r>
        </a:p>
      </dsp:txBody>
      <dsp:txXfrm>
        <a:off x="3934828" y="1821030"/>
        <a:ext cx="2382923" cy="1429754"/>
      </dsp:txXfrm>
    </dsp:sp>
    <dsp:sp modelId="{3BA08ED2-8CB5-4282-851E-307D71982F26}">
      <dsp:nvSpPr>
        <dsp:cNvPr id="0" name=""/>
        <dsp:cNvSpPr/>
      </dsp:nvSpPr>
      <dsp:spPr>
        <a:xfrm>
          <a:off x="6556044" y="1821030"/>
          <a:ext cx="2382923" cy="142975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Mobile App Security Requirements and Verification</a:t>
          </a:r>
        </a:p>
      </dsp:txBody>
      <dsp:txXfrm>
        <a:off x="6556044" y="1821030"/>
        <a:ext cx="2382923" cy="14297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96BBF8-2A50-49E6-B6AD-B8020440EEC8}">
      <dsp:nvSpPr>
        <dsp:cNvPr id="0" name=""/>
        <dsp:cNvSpPr/>
      </dsp:nvSpPr>
      <dsp:spPr>
        <a:xfrm>
          <a:off x="642624" y="297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A01:2021-Broken Access Control</a:t>
          </a:r>
        </a:p>
      </dsp:txBody>
      <dsp:txXfrm>
        <a:off x="642624" y="297"/>
        <a:ext cx="2323802" cy="1394281"/>
      </dsp:txXfrm>
    </dsp:sp>
    <dsp:sp modelId="{090B9F50-E635-4B69-B9C4-13C06F5EFF2C}">
      <dsp:nvSpPr>
        <dsp:cNvPr id="0" name=""/>
        <dsp:cNvSpPr/>
      </dsp:nvSpPr>
      <dsp:spPr>
        <a:xfrm>
          <a:off x="3198807" y="297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A02:2021-Cryptographic Failures</a:t>
          </a:r>
        </a:p>
      </dsp:txBody>
      <dsp:txXfrm>
        <a:off x="3198807" y="297"/>
        <a:ext cx="2323802" cy="1394281"/>
      </dsp:txXfrm>
    </dsp:sp>
    <dsp:sp modelId="{AF5EEEE8-979E-4710-B90D-08BE743CEF89}">
      <dsp:nvSpPr>
        <dsp:cNvPr id="0" name=""/>
        <dsp:cNvSpPr/>
      </dsp:nvSpPr>
      <dsp:spPr>
        <a:xfrm>
          <a:off x="5754990" y="297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A03:2021-Injection</a:t>
          </a:r>
        </a:p>
      </dsp:txBody>
      <dsp:txXfrm>
        <a:off x="5754990" y="297"/>
        <a:ext cx="2323802" cy="1394281"/>
      </dsp:txXfrm>
    </dsp:sp>
    <dsp:sp modelId="{399F358D-9020-4CE0-BC1A-CC202D40E450}">
      <dsp:nvSpPr>
        <dsp:cNvPr id="0" name=""/>
        <dsp:cNvSpPr/>
      </dsp:nvSpPr>
      <dsp:spPr>
        <a:xfrm>
          <a:off x="8311172" y="297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A04:2021-Insecure Design</a:t>
          </a:r>
        </a:p>
      </dsp:txBody>
      <dsp:txXfrm>
        <a:off x="8311172" y="297"/>
        <a:ext cx="2323802" cy="1394281"/>
      </dsp:txXfrm>
    </dsp:sp>
    <dsp:sp modelId="{7705C0EB-F1C1-4ABF-93A2-DDF35D65811B}">
      <dsp:nvSpPr>
        <dsp:cNvPr id="0" name=""/>
        <dsp:cNvSpPr/>
      </dsp:nvSpPr>
      <dsp:spPr>
        <a:xfrm>
          <a:off x="642624" y="1626959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A05:2021-Security Misconfiguration</a:t>
          </a:r>
        </a:p>
      </dsp:txBody>
      <dsp:txXfrm>
        <a:off x="642624" y="1626959"/>
        <a:ext cx="2323802" cy="1394281"/>
      </dsp:txXfrm>
    </dsp:sp>
    <dsp:sp modelId="{B71DF2AD-F768-464F-A5DA-514CC98B2075}">
      <dsp:nvSpPr>
        <dsp:cNvPr id="0" name=""/>
        <dsp:cNvSpPr/>
      </dsp:nvSpPr>
      <dsp:spPr>
        <a:xfrm>
          <a:off x="3198807" y="1626959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A4:2017-XML External Entities (XXE)</a:t>
          </a:r>
        </a:p>
      </dsp:txBody>
      <dsp:txXfrm>
        <a:off x="3198807" y="1626959"/>
        <a:ext cx="2323802" cy="1394281"/>
      </dsp:txXfrm>
    </dsp:sp>
    <dsp:sp modelId="{93B596E6-B759-414A-B14D-51E347D66BDA}">
      <dsp:nvSpPr>
        <dsp:cNvPr id="0" name=""/>
        <dsp:cNvSpPr/>
      </dsp:nvSpPr>
      <dsp:spPr>
        <a:xfrm>
          <a:off x="5754990" y="1626959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rgbClr val="FFFF00"/>
              </a:solidFill>
            </a:rPr>
            <a:t>A06:2021-Vulnerable and Outdated Components</a:t>
          </a:r>
        </a:p>
      </dsp:txBody>
      <dsp:txXfrm>
        <a:off x="5754990" y="1626959"/>
        <a:ext cx="2323802" cy="1394281"/>
      </dsp:txXfrm>
    </dsp:sp>
    <dsp:sp modelId="{34FD657F-5D0E-4674-BC88-C5CAC64CB061}">
      <dsp:nvSpPr>
        <dsp:cNvPr id="0" name=""/>
        <dsp:cNvSpPr/>
      </dsp:nvSpPr>
      <dsp:spPr>
        <a:xfrm>
          <a:off x="8311172" y="1626959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A07:2021-Identification and Authentication Failures</a:t>
          </a:r>
        </a:p>
      </dsp:txBody>
      <dsp:txXfrm>
        <a:off x="8311172" y="1626959"/>
        <a:ext cx="2323802" cy="1394281"/>
      </dsp:txXfrm>
    </dsp:sp>
    <dsp:sp modelId="{6184D74A-C81D-4C76-B625-3876BF2EDF99}">
      <dsp:nvSpPr>
        <dsp:cNvPr id="0" name=""/>
        <dsp:cNvSpPr/>
      </dsp:nvSpPr>
      <dsp:spPr>
        <a:xfrm>
          <a:off x="1920716" y="3253620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A08:2021-Software and Data Integrity Failures</a:t>
          </a:r>
        </a:p>
      </dsp:txBody>
      <dsp:txXfrm>
        <a:off x="1920716" y="3253620"/>
        <a:ext cx="2323802" cy="1394281"/>
      </dsp:txXfrm>
    </dsp:sp>
    <dsp:sp modelId="{62A2CCF8-9069-4EA1-97B4-BD2D1D965ECC}">
      <dsp:nvSpPr>
        <dsp:cNvPr id="0" name=""/>
        <dsp:cNvSpPr/>
      </dsp:nvSpPr>
      <dsp:spPr>
        <a:xfrm>
          <a:off x="4476898" y="3253620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A09:2021-Security Logging and Monitoring Failures</a:t>
          </a:r>
        </a:p>
      </dsp:txBody>
      <dsp:txXfrm>
        <a:off x="4476898" y="3253620"/>
        <a:ext cx="2323802" cy="1394281"/>
      </dsp:txXfrm>
    </dsp:sp>
    <dsp:sp modelId="{9DE950E3-3437-4736-B8EB-EF392E3F063A}">
      <dsp:nvSpPr>
        <dsp:cNvPr id="0" name=""/>
        <dsp:cNvSpPr/>
      </dsp:nvSpPr>
      <dsp:spPr>
        <a:xfrm>
          <a:off x="7033081" y="3253620"/>
          <a:ext cx="2323802" cy="13942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A10:2021-Server-Side Request Forgery</a:t>
          </a:r>
        </a:p>
      </dsp:txBody>
      <dsp:txXfrm>
        <a:off x="7033081" y="3253620"/>
        <a:ext cx="2323802" cy="13942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A207F-0F91-42F2-96D0-049C6003623B}" type="datetimeFigureOut">
              <a:rPr lang="en-US"/>
              <a:t>24-Apr-23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7D4A-04CB-4EDF-8FB1-342A02FC8EC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C13F5-F2B1-464B-BE8F-27ABFBD2FBDE}" type="datetimeFigureOut">
              <a:rPr lang="en-US"/>
              <a:t>24-Apr-23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1351F-DBB1-4664-ADA9-83BC7CB8848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034" y="685800"/>
            <a:ext cx="7998916" cy="2971801"/>
          </a:xfrm>
        </p:spPr>
        <p:txBody>
          <a:bodyPr anchor="b">
            <a:normAutofit/>
          </a:bodyPr>
          <a:lstStyle>
            <a:lvl1pPr algn="l">
              <a:defRPr sz="479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034" y="3843868"/>
            <a:ext cx="6399133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0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2A58A-F6A3-44B4-8553-CA3EAF252FB7}" type="datetime1">
              <a:rPr lang="en-US" smtClean="0"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5869" y="8467"/>
            <a:ext cx="3809008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6580" y="91546"/>
            <a:ext cx="6079071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3941" y="228600"/>
            <a:ext cx="495171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3927" y="32279"/>
            <a:ext cx="4851725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3383" y="609602"/>
            <a:ext cx="4342268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7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5BD3E-AD23-4233-B7FD-BCC74AA741B1}" type="datetime1">
              <a:rPr lang="en-US" smtClean="0"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86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4" y="2006600"/>
            <a:ext cx="8532178" cy="2281600"/>
          </a:xfrm>
        </p:spPr>
        <p:txBody>
          <a:bodyPr anchor="b">
            <a:normAutofit/>
          </a:bodyPr>
          <a:lstStyle>
            <a:lvl1pPr algn="l">
              <a:defRPr sz="3599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5" y="4495800"/>
            <a:ext cx="8532178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5C56-1C19-4454-A6D4-FDB294070137}" type="datetime1">
              <a:rPr lang="en-US" smtClean="0"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0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33" y="685801"/>
            <a:ext cx="4936369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6621" y="685801"/>
            <a:ext cx="4933194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AEA3F-BC83-4494-8BB2-CF9729692A8C}" type="datetime1">
              <a:rPr lang="en-US" smtClean="0"/>
              <a:t>24-Apr-23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8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827" y="685800"/>
            <a:ext cx="4648576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33" y="1270529"/>
            <a:ext cx="4936369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7483" y="685800"/>
            <a:ext cx="4663919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5033" y="1262062"/>
            <a:ext cx="4927904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BCFC3-C38C-4973-9593-9C0AA203E374}" type="datetime1">
              <a:rPr lang="en-US" smtClean="0"/>
              <a:t>24-Apr-23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1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E9B8-A638-47B9-8EAF-A06FB35BB403}" type="datetime1">
              <a:rPr lang="en-US" smtClean="0"/>
              <a:t>24-Apr-23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1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414C0-40BC-46FB-ADE3-F7141007B5FB}" type="datetime1">
              <a:rPr lang="en-US" smtClean="0"/>
              <a:t>24-Apr-23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93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3167" y="685800"/>
            <a:ext cx="3656648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034" y="685800"/>
            <a:ext cx="5942053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3167" y="2209800"/>
            <a:ext cx="3656648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BC97-2F5E-4770-AEEF-8F2730A3EA80}" type="datetime1">
              <a:rPr lang="en-US" smtClean="0"/>
              <a:t>24-Apr-23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1582" y="1447800"/>
            <a:ext cx="6018232" cy="11430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8754" y="914400"/>
            <a:ext cx="3280120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1582" y="2777067"/>
            <a:ext cx="6019820" cy="2048933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24-Apr-23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92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621" y="533400"/>
            <a:ext cx="10815995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164" y="3843867"/>
            <a:ext cx="8302047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24-Apr-23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061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5" y="685800"/>
            <a:ext cx="10055781" cy="2743200"/>
          </a:xfrm>
        </p:spPr>
        <p:txBody>
          <a:bodyPr anchor="ctr">
            <a:normAutofit/>
          </a:bodyPr>
          <a:lstStyle>
            <a:lvl1pPr algn="l">
              <a:defRPr sz="3199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114800"/>
            <a:ext cx="8533765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910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685800"/>
            <a:ext cx="9141620" cy="2743200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5835" y="3429000"/>
            <a:ext cx="8532178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5" y="4301068"/>
            <a:ext cx="8532178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674" y="81222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2734" y="276860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95638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4" y="3429000"/>
            <a:ext cx="8532178" cy="1697400"/>
          </a:xfrm>
        </p:spPr>
        <p:txBody>
          <a:bodyPr anchor="b">
            <a:normAutofit/>
          </a:bodyPr>
          <a:lstStyle>
            <a:lvl1pPr algn="l">
              <a:defRPr sz="3199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3" y="5132981"/>
            <a:ext cx="8533767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7857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685800"/>
            <a:ext cx="9141619" cy="2743200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035" y="3928534"/>
            <a:ext cx="8532178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978400"/>
            <a:ext cx="8532178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674" y="81222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2734" y="276860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908395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5" y="685800"/>
            <a:ext cx="10055781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034" y="3928534"/>
            <a:ext cx="853217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766733"/>
            <a:ext cx="8532178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0D41C-F0D3-49F0-8041-67FC705A40C6}" type="datetime1">
              <a:rPr lang="en-US" smtClean="0"/>
              <a:pPr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274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513F-1C7D-48A3-9E66-761794785CC6}" type="datetime1">
              <a:rPr lang="en-US" smtClean="0"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5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2950" y="685800"/>
            <a:ext cx="2056864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621" y="685800"/>
            <a:ext cx="7821163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BC340-5827-402A-ABD7-86B6900F77A8}" type="datetime1">
              <a:rPr lang="en-US" smtClean="0"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EFA0A-2F20-4B60-98C6-5FFDA469A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3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4572" y="2963334"/>
            <a:ext cx="2981081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034" y="4487333"/>
            <a:ext cx="8532178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685801"/>
            <a:ext cx="8532178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1833" y="6172201"/>
            <a:ext cx="15997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1B0D41C-F0D3-49F0-8041-67FC705A40C6}" type="datetime1">
              <a:rPr lang="en-US" smtClean="0"/>
              <a:pPr/>
              <a:t>24-Apr-23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034" y="6172201"/>
            <a:ext cx="7541835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0502" y="5578476"/>
            <a:ext cx="1141948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199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346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063" rtl="0" eaLnBrk="1" latinLnBrk="0" hangingPunct="1">
        <a:spcBef>
          <a:spcPct val="0"/>
        </a:spcBef>
        <a:buNone/>
        <a:defRPr sz="3599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9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79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5" Type="http://schemas.openxmlformats.org/officeDocument/2006/relationships/hyperlink" Target="https://learn.snyk.io/lessons/vulnerable-and-outdated-components/javascript/" TargetMode="External"/><Relationship Id="rId4" Type="http://schemas.openxmlformats.org/officeDocument/2006/relationships/hyperlink" Target="https://www.sonatype.com/hubfs/SSC/Software_Supply_Chain_Inforgraphic.pdf?t=1485298506170%5bSoftware%20Supply%20Chain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natype.com/hubfs/SSC/Software_Supply_Chain_Inforgraphic.pdf?t=1485298506170%5bSoftware%20Supply%20Chain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Top10/A06_2021-Vulnerable_and_Outdated_Components/#example-attack-scenarios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4" Type="http://schemas.openxmlformats.org/officeDocument/2006/relationships/hyperlink" Target="https://www.sonatype.com/state-of-the-software-supply-chain/open-source-dependency-management-trends-and-recommendation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Top10/A06_2021-Vulnerable_and_Outdated_Components/#example-attack-scenarios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Top10/A06_2021-Vulnerable_and_Outdated_Components/#example-attack-scenarios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Top10/A06_2021-Vulnerable_and_Outdated_Components/#example-attack-scenarios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Top10/A06_2021-Vulnerable_and_Outdated_Components/#example-attack-scenarios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ergebase.com/best-tools-for-generating-sbom/" TargetMode="External"/><Relationship Id="rId2" Type="http://schemas.openxmlformats.org/officeDocument/2006/relationships/hyperlink" Target="https://www.csoonline.com/article/3667483/8-top-sbom-tools-to-consider.html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owasp.org/Top10/A06_2021-Vulnerable_and_Outdated_Components/#example-attack-scenarios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eepingcomputer.com/news/security/new-linux-malware-uses-30-plugin-exploits-to-backdoor-wordpress-sites/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ecurity-updates/securityadvisories/2014/2915720?ranMID=24542&amp;ranEAID=AysPbYF8vuM&amp;ranSiteID=AysPbYF8vuM-oWMZ.8_P3F908QpRWYyHmA&amp;epi=AysPbYF8vuM-oWMZ.8_P3F908QpRWYyHmA&amp;irgwc=1&amp;OCID=AID2200057_aff_7593_1243925&amp;tduid=(ir__f9y9n1nrgskfbnxwwvjdok1n1m2x6lobsjk6aq1n00)(7593)(1243925)(AysPbYF8vuM-oWMZ.8_P3F908QpRWYyHmA)()&amp;irclickid=_f9y9n1nrgskfbnxwwvjdok1n1m2x6lobsjk6aq1n00" TargetMode="External"/><Relationship Id="rId2" Type="http://schemas.openxmlformats.org/officeDocument/2006/relationships/hyperlink" Target="https://www.bleepingcomputer.com/news/microsoft/10-year-old-windows-bug-with-opt-in-fix-exploited-in-3cx-attack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2" y="381000"/>
            <a:ext cx="9144000" cy="1752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40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Vulnerable and Outdated Components”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9712" y="2982686"/>
            <a:ext cx="6667500" cy="457200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CSC 577 - Enterprise Security Management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A2F6996-73E5-82D8-845A-BD040C620567}"/>
              </a:ext>
            </a:extLst>
          </p:cNvPr>
          <p:cNvSpPr txBox="1">
            <a:spLocks/>
          </p:cNvSpPr>
          <p:nvPr/>
        </p:nvSpPr>
        <p:spPr>
          <a:xfrm>
            <a:off x="6094412" y="4800600"/>
            <a:ext cx="6019800" cy="1219199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6"/>
              </a:buClr>
              <a:buFont typeface="Arial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Euphemia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Euphemia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Euphemia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6"/>
              </a:buClr>
              <a:buFont typeface="Euphemia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Font typeface="Euphemia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Font typeface="Euphemia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Font typeface="Euphemia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Font typeface="Euphemia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 Kausar Hamid Miji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South Dakota School of Mines and Technology</a:t>
            </a:r>
          </a:p>
        </p:txBody>
      </p:sp>
    </p:spTree>
    <p:extLst>
      <p:ext uri="{BB962C8B-B14F-4D97-AF65-F5344CB8AC3E}">
        <p14:creationId xmlns:p14="http://schemas.microsoft.com/office/powerpoint/2010/main" val="75228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84212" y="685799"/>
            <a:ext cx="3746136" cy="4892040"/>
          </a:xfrm>
        </p:spPr>
        <p:txBody>
          <a:bodyPr>
            <a:normAutofit/>
          </a:bodyPr>
          <a:lstStyle/>
          <a:p>
            <a:pPr algn="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571" y="1532373"/>
            <a:ext cx="0" cy="3198892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13"/>
          <p:cNvSpPr>
            <a:spLocks noGrp="1"/>
          </p:cNvSpPr>
          <p:nvPr>
            <p:ph idx="1"/>
          </p:nvPr>
        </p:nvSpPr>
        <p:spPr>
          <a:xfrm>
            <a:off x="4951412" y="685799"/>
            <a:ext cx="6286622" cy="4892040"/>
          </a:xfrm>
        </p:spPr>
        <p:txBody>
          <a:bodyPr>
            <a:normAutofit/>
          </a:bodyPr>
          <a:lstStyle/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OWASP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OWASP Top 10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Open-Source Ecosystems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Vulnerable and Outdated Components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Vulnerable and Outdated Components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Ways of mitigation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simple XSS Demo</a:t>
            </a: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18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9531" y="228599"/>
            <a:ext cx="4449762" cy="99059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OWASP?</a:t>
            </a:r>
          </a:p>
        </p:txBody>
      </p:sp>
      <p:pic>
        <p:nvPicPr>
          <p:cNvPr id="7" name="Content Placeholder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359EA47-A7D7-D5B8-B79C-A60991A5F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939" y="1389437"/>
            <a:ext cx="7128945" cy="2524835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186BA1F-FC36-B9A1-21BB-4D2F49EA1A4E}"/>
              </a:ext>
            </a:extLst>
          </p:cNvPr>
          <p:cNvSpPr txBox="1">
            <a:spLocks/>
          </p:cNvSpPr>
          <p:nvPr/>
        </p:nvSpPr>
        <p:spPr>
          <a:xfrm>
            <a:off x="1408111" y="4267200"/>
            <a:ext cx="9372600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063" rtl="0" eaLnBrk="1" latinLnBrk="0" hangingPunct="1">
              <a:spcBef>
                <a:spcPct val="0"/>
              </a:spcBef>
              <a:buNone/>
              <a:defRPr sz="3999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is an international non-profit organization whose mission is to secure web.</a:t>
            </a:r>
            <a:b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provides tools, resources, education, training and community events to developers, hackers, and technologists.</a:t>
            </a: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8250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3">
            <a:extLst>
              <a:ext uri="{FF2B5EF4-FFF2-40B4-BE49-F238E27FC236}">
                <a16:creationId xmlns:a16="http://schemas.microsoft.com/office/drawing/2014/main" id="{D2600CBB-0CF8-4237-8491-B7864363D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775" y="5059794"/>
            <a:ext cx="2320926" cy="1155267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OWASP Projects</a:t>
            </a:r>
          </a:p>
        </p:txBody>
      </p:sp>
      <p:sp>
        <p:nvSpPr>
          <p:cNvPr id="36" name="Snip Diagonal Corner Rectangle 21">
            <a:extLst>
              <a:ext uri="{FF2B5EF4-FFF2-40B4-BE49-F238E27FC236}">
                <a16:creationId xmlns:a16="http://schemas.microsoft.com/office/drawing/2014/main" id="{E4CBBC1E-991D-4CF9-BCA5-AB149687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650" cy="4572000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4020394E-567B-F78E-89B2-9E91244DF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924922"/>
              </p:ext>
            </p:extLst>
          </p:nvPr>
        </p:nvGraphicFramePr>
        <p:xfrm>
          <a:off x="964948" y="642939"/>
          <a:ext cx="10252580" cy="3403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35889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6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2" y="1152525"/>
            <a:ext cx="9525000" cy="8382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Top 10 was first released in 2003…Latest 2021…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3198812" y="181947"/>
            <a:ext cx="6017400" cy="83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in OWASP TOP 10</a:t>
            </a:r>
          </a:p>
        </p:txBody>
      </p:sp>
      <p:graphicFrame>
        <p:nvGraphicFramePr>
          <p:cNvPr id="15" name="Title 1">
            <a:extLst>
              <a:ext uri="{FF2B5EF4-FFF2-40B4-BE49-F238E27FC236}">
                <a16:creationId xmlns:a16="http://schemas.microsoft.com/office/drawing/2014/main" id="{A5D6B073-BFFE-24F3-716F-8896965627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7248711"/>
              </p:ext>
            </p:extLst>
          </p:nvPr>
        </p:nvGraphicFramePr>
        <p:xfrm>
          <a:off x="379412" y="2027853"/>
          <a:ext cx="112776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2036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build="p"/>
      <p:bldGraphic spid="1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363894"/>
            <a:ext cx="8763001" cy="656253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Open-Source Ecosystems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93891DD-9B12-1DD8-F139-0B2893312CC6}"/>
              </a:ext>
            </a:extLst>
          </p:cNvPr>
          <p:cNvSpPr txBox="1">
            <a:spLocks/>
          </p:cNvSpPr>
          <p:nvPr/>
        </p:nvSpPr>
        <p:spPr>
          <a:xfrm>
            <a:off x="545596" y="3307760"/>
            <a:ext cx="5562779" cy="948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10971212" y="6324600"/>
            <a:ext cx="10807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Ref. WebGoat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C6DCA-25F2-CC94-9F44-950694253AA8}"/>
              </a:ext>
            </a:extLst>
          </p:cNvPr>
          <p:cNvSpPr txBox="1"/>
          <p:nvPr/>
        </p:nvSpPr>
        <p:spPr>
          <a:xfrm>
            <a:off x="760412" y="2690720"/>
            <a:ext cx="38036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10+ Million GitHub code repositories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FE304-4FE0-F8B6-8068-9F14299E24E9}"/>
              </a:ext>
            </a:extLst>
          </p:cNvPr>
          <p:cNvSpPr txBox="1"/>
          <p:nvPr/>
        </p:nvSpPr>
        <p:spPr>
          <a:xfrm>
            <a:off x="6399212" y="2690720"/>
            <a:ext cx="3054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2500 public binary repositories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25204-9DBE-7CE2-C56F-5E853488F85B}"/>
              </a:ext>
            </a:extLst>
          </p:cNvPr>
          <p:cNvSpPr txBox="1"/>
          <p:nvPr/>
        </p:nvSpPr>
        <p:spPr>
          <a:xfrm>
            <a:off x="3503612" y="3785603"/>
            <a:ext cx="4648200" cy="369332"/>
          </a:xfrm>
          <a:prstGeom prst="rect">
            <a:avLst/>
          </a:prstGeom>
        </p:spPr>
        <p:style>
          <a:lnRef idx="0">
            <a:scrgbClr r="0" g="0" b="0"/>
          </a:lnRef>
          <a:fillRef idx="1002">
            <a:schemeClr val="lt2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/>
          <a:p>
            <a:r>
              <a:rPr lang="en-US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1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ifferent packaging systems for same function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B52CD0-79DE-D518-3875-F7DED5EE65EA}"/>
              </a:ext>
            </a:extLst>
          </p:cNvPr>
          <p:cNvSpPr txBox="1"/>
          <p:nvPr/>
        </p:nvSpPr>
        <p:spPr>
          <a:xfrm>
            <a:off x="3326985" y="4539472"/>
            <a:ext cx="518160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Different coordinates systems and level of granularity</a:t>
            </a:r>
            <a:endParaRPr lang="en-US" dirty="0"/>
          </a:p>
        </p:txBody>
      </p:sp>
      <p:pic>
        <p:nvPicPr>
          <p:cNvPr id="25" name="Graphic 24" descr="Web design with solid fill">
            <a:extLst>
              <a:ext uri="{FF2B5EF4-FFF2-40B4-BE49-F238E27FC236}">
                <a16:creationId xmlns:a16="http://schemas.microsoft.com/office/drawing/2014/main" id="{9530DECA-5327-41A4-6F0F-5920AF9B8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1711" y="1791432"/>
            <a:ext cx="914400" cy="914400"/>
          </a:xfrm>
          <a:prstGeom prst="rect">
            <a:avLst/>
          </a:prstGeom>
        </p:spPr>
      </p:pic>
      <p:pic>
        <p:nvPicPr>
          <p:cNvPr id="30" name="Graphic 29" descr="Web design with solid fill">
            <a:extLst>
              <a:ext uri="{FF2B5EF4-FFF2-40B4-BE49-F238E27FC236}">
                <a16:creationId xmlns:a16="http://schemas.microsoft.com/office/drawing/2014/main" id="{923FADFC-3DC7-F5F6-6BCB-8F7BEFFF0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9612" y="1791432"/>
            <a:ext cx="914400" cy="914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0360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2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93891DD-9B12-1DD8-F139-0B2893312CC6}"/>
              </a:ext>
            </a:extLst>
          </p:cNvPr>
          <p:cNvSpPr txBox="1">
            <a:spLocks/>
          </p:cNvSpPr>
          <p:nvPr/>
        </p:nvSpPr>
        <p:spPr>
          <a:xfrm>
            <a:off x="545596" y="3307760"/>
            <a:ext cx="5562779" cy="948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93AADDC-8599-83FC-27A8-C3363F7791FD}"/>
              </a:ext>
            </a:extLst>
          </p:cNvPr>
          <p:cNvSpPr txBox="1">
            <a:spLocks/>
          </p:cNvSpPr>
          <p:nvPr/>
        </p:nvSpPr>
        <p:spPr>
          <a:xfrm>
            <a:off x="545031" y="1101197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is Vulnerable and Outdated Component?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C9C4F6-9C50-8832-36D1-51F935F45DBD}"/>
              </a:ext>
            </a:extLst>
          </p:cNvPr>
          <p:cNvSpPr txBox="1">
            <a:spLocks/>
          </p:cNvSpPr>
          <p:nvPr/>
        </p:nvSpPr>
        <p:spPr>
          <a:xfrm>
            <a:off x="545031" y="1836519"/>
            <a:ext cx="11049000" cy="1600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vulnerable and outdated component is a software component that is no longer being supported by the developer, making it susceptible to security vulnerabilities. Many times, a component has known vulnerabilities that don’t get fixed due to a lack of maintainer.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24AB04-83E3-EDAE-AD01-1C2188D39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212" y="3505200"/>
            <a:ext cx="7772689" cy="2425633"/>
          </a:xfrm>
          <a:prstGeom prst="rect">
            <a:avLst/>
          </a:prstGeom>
        </p:spPr>
      </p:pic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4C196F64-C5DA-6082-3398-8B39D276DE08}"/>
              </a:ext>
            </a:extLst>
          </p:cNvPr>
          <p:cNvSpPr txBox="1">
            <a:spLocks/>
          </p:cNvSpPr>
          <p:nvPr/>
        </p:nvSpPr>
        <p:spPr>
          <a:xfrm>
            <a:off x="4132478" y="6019800"/>
            <a:ext cx="3162156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Fig: Software Supply Chain 2016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9447212" y="6324600"/>
            <a:ext cx="26047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Ref. Software Supply Chain</a:t>
            </a: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snyk.io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55B3D3-355D-2095-9668-E3C3EB2FF77B}"/>
              </a:ext>
            </a:extLst>
          </p:cNvPr>
          <p:cNvSpPr txBox="1">
            <a:spLocks/>
          </p:cNvSpPr>
          <p:nvPr/>
        </p:nvSpPr>
        <p:spPr>
          <a:xfrm>
            <a:off x="1293811" y="363893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vulnerable and outdated component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02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93891DD-9B12-1DD8-F139-0B2893312CC6}"/>
              </a:ext>
            </a:extLst>
          </p:cNvPr>
          <p:cNvSpPr txBox="1">
            <a:spLocks/>
          </p:cNvSpPr>
          <p:nvPr/>
        </p:nvSpPr>
        <p:spPr>
          <a:xfrm>
            <a:off x="545596" y="3307760"/>
            <a:ext cx="5562779" cy="948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93AADDC-8599-83FC-27A8-C3363F7791FD}"/>
              </a:ext>
            </a:extLst>
          </p:cNvPr>
          <p:cNvSpPr txBox="1">
            <a:spLocks/>
          </p:cNvSpPr>
          <p:nvPr/>
        </p:nvSpPr>
        <p:spPr>
          <a:xfrm>
            <a:off x="545031" y="1101197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What is Vulnerable and Outdated Component?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C9C4F6-9C50-8832-36D1-51F935F45DBD}"/>
              </a:ext>
            </a:extLst>
          </p:cNvPr>
          <p:cNvSpPr txBox="1">
            <a:spLocks/>
          </p:cNvSpPr>
          <p:nvPr/>
        </p:nvSpPr>
        <p:spPr>
          <a:xfrm>
            <a:off x="555950" y="1905001"/>
            <a:ext cx="11049000" cy="2209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According to software supply chain 2016 by sonatype.com:</a:t>
            </a:r>
          </a:p>
          <a:p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Not all components are created equal.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 10,000 new component versions per day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Developers create 1,000 new open-source projects per day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Each company downloaded 229,898 component per year!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9752012" y="6324600"/>
            <a:ext cx="22999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Ref. Software Supply Chain 2016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53F8AA1-D291-3CBA-638C-3C75FAF85968}"/>
              </a:ext>
            </a:extLst>
          </p:cNvPr>
          <p:cNvSpPr txBox="1">
            <a:spLocks/>
          </p:cNvSpPr>
          <p:nvPr/>
        </p:nvSpPr>
        <p:spPr>
          <a:xfrm>
            <a:off x="2555195" y="4270902"/>
            <a:ext cx="7028672" cy="948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6.8% of components used in applications have at least one known security vulnerability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53668718-7DDD-33A8-F23C-9BCFA10DADF3}"/>
              </a:ext>
            </a:extLst>
          </p:cNvPr>
          <p:cNvSpPr txBox="1">
            <a:spLocks/>
          </p:cNvSpPr>
          <p:nvPr/>
        </p:nvSpPr>
        <p:spPr>
          <a:xfrm>
            <a:off x="2594039" y="5297751"/>
            <a:ext cx="7028672" cy="9487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Parts age and grow stale. Older components in apps have 3x rate of vulnerabilities.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8DB419C-F908-2A0A-BF40-C54575883C78}"/>
              </a:ext>
            </a:extLst>
          </p:cNvPr>
          <p:cNvSpPr txBox="1">
            <a:spLocks/>
          </p:cNvSpPr>
          <p:nvPr/>
        </p:nvSpPr>
        <p:spPr>
          <a:xfrm>
            <a:off x="1293811" y="317241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vulnerable and outdated component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4905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5" grpId="0"/>
      <p:bldP spid="6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684212" y="5356125"/>
            <a:ext cx="10820400" cy="936833"/>
          </a:xfrm>
        </p:spPr>
        <p:txBody>
          <a:bodyPr>
            <a:noAutofit/>
          </a:bodyPr>
          <a:lstStyle/>
          <a:p>
            <a:r>
              <a:rPr lang="en-US" sz="2400" i="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Vulnerable Components are a known issue that we struggle to test and assess risk 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B87D5AC4-D714-A95B-632A-2C36FAD9EF1F}"/>
              </a:ext>
            </a:extLst>
          </p:cNvPr>
          <p:cNvSpPr/>
          <p:nvPr/>
        </p:nvSpPr>
        <p:spPr>
          <a:xfrm>
            <a:off x="684211" y="3366450"/>
            <a:ext cx="5181600" cy="177512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category to not have any Common Vulnerability and Exposures (CVEs) mapped to the included CWE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59F8AC33-4F8C-3FE2-EF4F-6626176B43BA}"/>
              </a:ext>
            </a:extLst>
          </p:cNvPr>
          <p:cNvSpPr/>
          <p:nvPr/>
        </p:nvSpPr>
        <p:spPr>
          <a:xfrm>
            <a:off x="6475414" y="3273144"/>
            <a:ext cx="5181600" cy="177512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efault exploits/impact weight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i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5.0 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76A99B14-2D57-2ED4-C340-4B47C45DCBE2}"/>
              </a:ext>
            </a:extLst>
          </p:cNvPr>
          <p:cNvSpPr txBox="1">
            <a:spLocks/>
          </p:cNvSpPr>
          <p:nvPr/>
        </p:nvSpPr>
        <p:spPr>
          <a:xfrm>
            <a:off x="7999413" y="6324600"/>
            <a:ext cx="40525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Ref. OWASP TOP 10</a:t>
            </a: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Software Supply Chain Report 2022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818579C-8009-3A5E-CEFE-DFC884BFD398}"/>
              </a:ext>
            </a:extLst>
          </p:cNvPr>
          <p:cNvSpPr txBox="1">
            <a:spLocks/>
          </p:cNvSpPr>
          <p:nvPr/>
        </p:nvSpPr>
        <p:spPr>
          <a:xfrm>
            <a:off x="1262693" y="276125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vulnerable and outdated component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A16C0A87-9011-9238-B5F1-6325B73521A7}"/>
              </a:ext>
            </a:extLst>
          </p:cNvPr>
          <p:cNvSpPr txBox="1">
            <a:spLocks/>
          </p:cNvSpPr>
          <p:nvPr/>
        </p:nvSpPr>
        <p:spPr>
          <a:xfrm>
            <a:off x="684212" y="1033559"/>
            <a:ext cx="10820400" cy="20917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n w="0"/>
                <a:solidFill>
                  <a:schemeClr val="accent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Software supply chain report 2022:</a:t>
            </a:r>
          </a:p>
          <a:p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14% of all monthly downloads are vulnerable.</a:t>
            </a:r>
          </a:p>
          <a:p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4.5% of the vulnerable dependencies have no version with available fix, which means that  95.5% of known-vulnerable downloads had a non-vulnerable option available.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205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7" grpId="0" animBg="1"/>
      <p:bldP spid="8" grpId="0" animBg="1"/>
      <p:bldP spid="12" grpId="0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93891DD-9B12-1DD8-F139-0B2893312CC6}"/>
              </a:ext>
            </a:extLst>
          </p:cNvPr>
          <p:cNvSpPr txBox="1">
            <a:spLocks/>
          </p:cNvSpPr>
          <p:nvPr/>
        </p:nvSpPr>
        <p:spPr>
          <a:xfrm>
            <a:off x="545596" y="3307760"/>
            <a:ext cx="5562779" cy="948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93AADDC-8599-83FC-27A8-C3363F7791FD}"/>
              </a:ext>
            </a:extLst>
          </p:cNvPr>
          <p:cNvSpPr txBox="1">
            <a:spLocks/>
          </p:cNvSpPr>
          <p:nvPr/>
        </p:nvSpPr>
        <p:spPr>
          <a:xfrm>
            <a:off x="545596" y="1101197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When we are vulnerable?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C9C4F6-9C50-8832-36D1-51F935F45DBD}"/>
              </a:ext>
            </a:extLst>
          </p:cNvPr>
          <p:cNvSpPr txBox="1">
            <a:spLocks/>
          </p:cNvSpPr>
          <p:nvPr/>
        </p:nvSpPr>
        <p:spPr>
          <a:xfrm>
            <a:off x="545596" y="1905000"/>
            <a:ext cx="11049000" cy="3962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When the versions of all components used in both client-side and server-side is unknown.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Components: Directly used and nested dependencies.</a:t>
            </a:r>
          </a:p>
          <a:p>
            <a:pPr algn="just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the software is vulnerable, unsupported, or out of date.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OS, web/application server, database management system (DBMS), applications, APIs and all components, runtime environments, and libraries.</a:t>
            </a:r>
          </a:p>
          <a:p>
            <a:pPr algn="just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regular scanning for vulnerabilities are not done and do not keep update to security bulletins related to the components used.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10437812" y="6324600"/>
            <a:ext cx="16141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Ref. OWASP TOP 10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86641B2-1ABD-C4F8-9F40-FCF592C2C984}"/>
              </a:ext>
            </a:extLst>
          </p:cNvPr>
          <p:cNvSpPr txBox="1">
            <a:spLocks/>
          </p:cNvSpPr>
          <p:nvPr/>
        </p:nvSpPr>
        <p:spPr>
          <a:xfrm>
            <a:off x="1293811" y="334347"/>
            <a:ext cx="9144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vulnerable and outdated component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57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93891DD-9B12-1DD8-F139-0B2893312CC6}"/>
              </a:ext>
            </a:extLst>
          </p:cNvPr>
          <p:cNvSpPr txBox="1">
            <a:spLocks/>
          </p:cNvSpPr>
          <p:nvPr/>
        </p:nvSpPr>
        <p:spPr>
          <a:xfrm>
            <a:off x="545596" y="3307760"/>
            <a:ext cx="5562779" cy="948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93AADDC-8599-83FC-27A8-C3363F7791FD}"/>
              </a:ext>
            </a:extLst>
          </p:cNvPr>
          <p:cNvSpPr txBox="1">
            <a:spLocks/>
          </p:cNvSpPr>
          <p:nvPr/>
        </p:nvSpPr>
        <p:spPr>
          <a:xfrm>
            <a:off x="545031" y="1101197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When we are vulnerable?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C9C4F6-9C50-8832-36D1-51F935F45DBD}"/>
              </a:ext>
            </a:extLst>
          </p:cNvPr>
          <p:cNvSpPr txBox="1">
            <a:spLocks/>
          </p:cNvSpPr>
          <p:nvPr/>
        </p:nvSpPr>
        <p:spPr>
          <a:xfrm>
            <a:off x="555950" y="1905002"/>
            <a:ext cx="11049000" cy="385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we do not fix or upgrade the underlying platform, frameworks, and dependencies in a risk-based, timely fashion.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This commonly happens in environments when patching is a monthly or quarterly task under change control, leaving organizations open to days or months of unnecessary exposure to fixed vulnerabilities.</a:t>
            </a:r>
          </a:p>
          <a:p>
            <a:pPr algn="just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the compatibility of updated, upgraded, or patched libraries are not tested.</a:t>
            </a:r>
          </a:p>
          <a:p>
            <a:pPr algn="just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If the components’ configurations are insecure.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A05:2021-Security Misconfiguration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10514012" y="6324600"/>
            <a:ext cx="15379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Ref. OWASP TOP 10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6F045-8E5B-1C8E-243E-6D23F5BA95C6}"/>
              </a:ext>
            </a:extLst>
          </p:cNvPr>
          <p:cNvSpPr txBox="1">
            <a:spLocks/>
          </p:cNvSpPr>
          <p:nvPr/>
        </p:nvSpPr>
        <p:spPr>
          <a:xfrm>
            <a:off x="1293811" y="317241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of vulnerable and outdated component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524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93891DD-9B12-1DD8-F139-0B2893312CC6}"/>
              </a:ext>
            </a:extLst>
          </p:cNvPr>
          <p:cNvSpPr txBox="1">
            <a:spLocks/>
          </p:cNvSpPr>
          <p:nvPr/>
        </p:nvSpPr>
        <p:spPr>
          <a:xfrm>
            <a:off x="545596" y="3307760"/>
            <a:ext cx="5562779" cy="948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93AADDC-8599-83FC-27A8-C3363F7791FD}"/>
              </a:ext>
            </a:extLst>
          </p:cNvPr>
          <p:cNvSpPr txBox="1">
            <a:spLocks/>
          </p:cNvSpPr>
          <p:nvPr/>
        </p:nvSpPr>
        <p:spPr>
          <a:xfrm>
            <a:off x="545031" y="1101197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can go wrong?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C9C4F6-9C50-8832-36D1-51F935F45DBD}"/>
              </a:ext>
            </a:extLst>
          </p:cNvPr>
          <p:cNvSpPr txBox="1">
            <a:spLocks/>
          </p:cNvSpPr>
          <p:nvPr/>
        </p:nvSpPr>
        <p:spPr>
          <a:xfrm>
            <a:off x="555950" y="1905002"/>
            <a:ext cx="11049000" cy="1981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impact of this type of vulnerability varies considerably depending on the type of vulnerability that the outdated/vulnerable component is. </a:t>
            </a:r>
            <a:r>
              <a:rPr lang="en-US" sz="24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worst it can result in the complete loss of data integrity, data confidentiality and system availability.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10514012" y="6324600"/>
            <a:ext cx="15379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Ref. OWASP TOP 10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6F045-8E5B-1C8E-243E-6D23F5BA95C6}"/>
              </a:ext>
            </a:extLst>
          </p:cNvPr>
          <p:cNvSpPr txBox="1">
            <a:spLocks/>
          </p:cNvSpPr>
          <p:nvPr/>
        </p:nvSpPr>
        <p:spPr>
          <a:xfrm>
            <a:off x="1293812" y="402712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vulnerable and outdated component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0885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93AADDC-8599-83FC-27A8-C3363F7791FD}"/>
              </a:ext>
            </a:extLst>
          </p:cNvPr>
          <p:cNvSpPr txBox="1">
            <a:spLocks/>
          </p:cNvSpPr>
          <p:nvPr/>
        </p:nvSpPr>
        <p:spPr>
          <a:xfrm>
            <a:off x="545031" y="1147850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Knowing the Open-Source Software "Bill of Materials"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C9C4F6-9C50-8832-36D1-51F935F45DBD}"/>
              </a:ext>
            </a:extLst>
          </p:cNvPr>
          <p:cNvSpPr txBox="1">
            <a:spLocks/>
          </p:cNvSpPr>
          <p:nvPr/>
        </p:nvSpPr>
        <p:spPr>
          <a:xfrm>
            <a:off x="545031" y="1905001"/>
            <a:ext cx="11049000" cy="41909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we should know the answer to:</a:t>
            </a:r>
          </a:p>
          <a:p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How do we know what open-source components are in our applications?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we know what versions of open-source components we are using?</a:t>
            </a:r>
          </a:p>
          <a:p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How do we discover and define the risk of open-source components?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we associate a specific risk to a specific version of an open-source component?</a:t>
            </a:r>
          </a:p>
          <a:p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we know when a component releases a new version?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10514012" y="6324600"/>
            <a:ext cx="15379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Ref. OWASP TOP 10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6F045-8E5B-1C8E-243E-6D23F5BA95C6}"/>
              </a:ext>
            </a:extLst>
          </p:cNvPr>
          <p:cNvSpPr txBox="1">
            <a:spLocks/>
          </p:cNvSpPr>
          <p:nvPr/>
        </p:nvSpPr>
        <p:spPr>
          <a:xfrm>
            <a:off x="1293812" y="258147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Ways of mitigation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371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93AADDC-8599-83FC-27A8-C3363F7791FD}"/>
              </a:ext>
            </a:extLst>
          </p:cNvPr>
          <p:cNvSpPr txBox="1">
            <a:spLocks/>
          </p:cNvSpPr>
          <p:nvPr/>
        </p:nvSpPr>
        <p:spPr>
          <a:xfrm>
            <a:off x="545031" y="1101196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Knowing the Open-Source Software "Bill of Materials" (OSS-BOM)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C9C4F6-9C50-8832-36D1-51F935F45DBD}"/>
              </a:ext>
            </a:extLst>
          </p:cNvPr>
          <p:cNvSpPr txBox="1">
            <a:spLocks/>
          </p:cNvSpPr>
          <p:nvPr/>
        </p:nvSpPr>
        <p:spPr>
          <a:xfrm>
            <a:off x="545031" y="1786998"/>
            <a:ext cx="11049000" cy="19049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we should know the answer to:</a:t>
            </a:r>
          </a:p>
          <a:p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we know if a new vulnerability is found on what was previously a "good" component?</a:t>
            </a:r>
          </a:p>
          <a:p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we know if we are using the authentic version of an open-source component?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8761411" y="6324600"/>
            <a:ext cx="3290563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Ref. WebGoat, </a:t>
            </a:r>
            <a:r>
              <a:rPr lang="en-US" sz="12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csoonline.com</a:t>
            </a:r>
            <a:r>
              <a:rPr lang="en-US" sz="12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mergebase.com</a:t>
            </a:r>
            <a:endParaRPr lang="en-US" sz="1200" dirty="0">
              <a:ln w="0"/>
              <a:solidFill>
                <a:schemeClr val="bg1">
                  <a:lumMod val="95000"/>
                  <a:lumOff val="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6F045-8E5B-1C8E-243E-6D23F5BA95C6}"/>
              </a:ext>
            </a:extLst>
          </p:cNvPr>
          <p:cNvSpPr txBox="1">
            <a:spLocks/>
          </p:cNvSpPr>
          <p:nvPr/>
        </p:nvSpPr>
        <p:spPr>
          <a:xfrm>
            <a:off x="1293812" y="376519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Ways of mitigation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9E204A7-3AD0-8906-D1EB-5BD51A3B4379}"/>
              </a:ext>
            </a:extLst>
          </p:cNvPr>
          <p:cNvSpPr txBox="1">
            <a:spLocks/>
          </p:cNvSpPr>
          <p:nvPr/>
        </p:nvSpPr>
        <p:spPr>
          <a:xfrm>
            <a:off x="455612" y="3802593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Tools Used to Generate OSS-BOM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FE6A7A65-2CF3-BF58-F609-8B6D8E85A78D}"/>
              </a:ext>
            </a:extLst>
          </p:cNvPr>
          <p:cNvSpPr txBox="1">
            <a:spLocks/>
          </p:cNvSpPr>
          <p:nvPr/>
        </p:nvSpPr>
        <p:spPr>
          <a:xfrm>
            <a:off x="2132855" y="4599993"/>
            <a:ext cx="2278969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 err="1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Syft</a:t>
            </a:r>
            <a:r>
              <a:rPr lang="en-US" sz="24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by Anchore</a:t>
            </a:r>
            <a:endParaRPr lang="en-US" sz="240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618FE679-6E89-B7E5-4D43-389FEDA694C0}"/>
              </a:ext>
            </a:extLst>
          </p:cNvPr>
          <p:cNvSpPr txBox="1">
            <a:spLocks/>
          </p:cNvSpPr>
          <p:nvPr/>
        </p:nvSpPr>
        <p:spPr>
          <a:xfrm>
            <a:off x="4411824" y="4606396"/>
            <a:ext cx="1905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i="0" dirty="0" err="1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Snyk</a:t>
            </a:r>
            <a:endParaRPr lang="en-US" sz="240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C637BF8-C800-C462-70DC-AFBE6099E0AB}"/>
              </a:ext>
            </a:extLst>
          </p:cNvPr>
          <p:cNvSpPr txBox="1">
            <a:spLocks/>
          </p:cNvSpPr>
          <p:nvPr/>
        </p:nvSpPr>
        <p:spPr>
          <a:xfrm>
            <a:off x="6316824" y="4606396"/>
            <a:ext cx="1905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FOSSA</a:t>
            </a:r>
            <a:endParaRPr lang="en-US" sz="240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66EF8A1F-042B-2238-14E2-974991E48968}"/>
              </a:ext>
            </a:extLst>
          </p:cNvPr>
          <p:cNvSpPr txBox="1">
            <a:spLocks/>
          </p:cNvSpPr>
          <p:nvPr/>
        </p:nvSpPr>
        <p:spPr>
          <a:xfrm>
            <a:off x="8228012" y="4599993"/>
            <a:ext cx="1905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endParaRPr lang="en-US" sz="240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E64923A6-F784-8E50-4984-0A6F41BD9B18}"/>
              </a:ext>
            </a:extLst>
          </p:cNvPr>
          <p:cNvSpPr txBox="1">
            <a:spLocks/>
          </p:cNvSpPr>
          <p:nvPr/>
        </p:nvSpPr>
        <p:spPr>
          <a:xfrm>
            <a:off x="1567543" y="5419531"/>
            <a:ext cx="3301481" cy="6002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SPDX SBOM Generator</a:t>
            </a:r>
            <a:endParaRPr lang="en-US" sz="240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6894BF3-F68E-5A04-995D-3D1B9D9F89A1}"/>
              </a:ext>
            </a:extLst>
          </p:cNvPr>
          <p:cNvSpPr txBox="1">
            <a:spLocks/>
          </p:cNvSpPr>
          <p:nvPr/>
        </p:nvSpPr>
        <p:spPr>
          <a:xfrm>
            <a:off x="4869024" y="5444596"/>
            <a:ext cx="1905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Tern Project</a:t>
            </a:r>
            <a:endParaRPr lang="en-US" sz="240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81F97D52-A884-73F7-6353-EC64C14660DC}"/>
              </a:ext>
            </a:extLst>
          </p:cNvPr>
          <p:cNvSpPr txBox="1">
            <a:spLocks/>
          </p:cNvSpPr>
          <p:nvPr/>
        </p:nvSpPr>
        <p:spPr>
          <a:xfrm>
            <a:off x="6774024" y="5444596"/>
            <a:ext cx="1905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 err="1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TauruSeer</a:t>
            </a:r>
            <a:endParaRPr lang="en-US" sz="240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22D6BCCA-1937-D0FA-CAD9-4A0BEF79862B}"/>
              </a:ext>
            </a:extLst>
          </p:cNvPr>
          <p:cNvSpPr txBox="1">
            <a:spLocks/>
          </p:cNvSpPr>
          <p:nvPr/>
        </p:nvSpPr>
        <p:spPr>
          <a:xfrm>
            <a:off x="8685212" y="5438193"/>
            <a:ext cx="14478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Mend</a:t>
            </a:r>
            <a:endParaRPr lang="en-US" sz="2400" i="0" dirty="0">
              <a:solidFill>
                <a:schemeClr val="bg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59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7" grpId="0"/>
      <p:bldP spid="2" grpId="0"/>
      <p:bldP spid="3" grpId="0"/>
      <p:bldP spid="8" grpId="0"/>
      <p:bldP spid="10" grpId="0"/>
      <p:bldP spid="11" grpId="0"/>
      <p:bldP spid="12" grpId="0"/>
      <p:bldP spid="13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93AADDC-8599-83FC-27A8-C3363F7791FD}"/>
              </a:ext>
            </a:extLst>
          </p:cNvPr>
          <p:cNvSpPr txBox="1">
            <a:spLocks/>
          </p:cNvSpPr>
          <p:nvPr/>
        </p:nvSpPr>
        <p:spPr>
          <a:xfrm>
            <a:off x="545031" y="1037253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Identifying Security Information of the Open-Source Modules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C9C4F6-9C50-8832-36D1-51F935F45DBD}"/>
              </a:ext>
            </a:extLst>
          </p:cNvPr>
          <p:cNvSpPr txBox="1">
            <a:spLocks/>
          </p:cNvSpPr>
          <p:nvPr/>
        </p:nvSpPr>
        <p:spPr>
          <a:xfrm>
            <a:off x="555950" y="1794405"/>
            <a:ext cx="11049000" cy="1600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my component exploitable?</a:t>
            </a:r>
          </a:p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my component an authentic copy?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I understand why my component is modified?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10971212" y="6324600"/>
            <a:ext cx="10807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Ref. WebGoat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6F045-8E5B-1C8E-243E-6D23F5BA95C6}"/>
              </a:ext>
            </a:extLst>
          </p:cNvPr>
          <p:cNvSpPr txBox="1">
            <a:spLocks/>
          </p:cNvSpPr>
          <p:nvPr/>
        </p:nvSpPr>
        <p:spPr>
          <a:xfrm>
            <a:off x="1293812" y="266699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Ways of mitigation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E073D4C7-9731-796B-364F-DE356680EDA3}"/>
              </a:ext>
            </a:extLst>
          </p:cNvPr>
          <p:cNvSpPr txBox="1">
            <a:spLocks/>
          </p:cNvSpPr>
          <p:nvPr/>
        </p:nvSpPr>
        <p:spPr>
          <a:xfrm>
            <a:off x="557472" y="3623204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Identifying License Information Overload of the Open-Source Modules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E084371-5BD3-7086-27EF-3B9DE6FFE65D}"/>
              </a:ext>
            </a:extLst>
          </p:cNvPr>
          <p:cNvSpPr txBox="1">
            <a:spLocks/>
          </p:cNvSpPr>
          <p:nvPr/>
        </p:nvSpPr>
        <p:spPr>
          <a:xfrm>
            <a:off x="568391" y="4427009"/>
            <a:ext cx="11049000" cy="1600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I use this component within the context of distribution of my software?</a:t>
            </a:r>
          </a:p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there license incompatibilities?</a:t>
            </a:r>
          </a:p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using a modified component, did I address additional license obligations?</a:t>
            </a:r>
          </a:p>
        </p:txBody>
      </p:sp>
    </p:spTree>
    <p:extLst>
      <p:ext uri="{BB962C8B-B14F-4D97-AF65-F5344CB8AC3E}">
        <p14:creationId xmlns:p14="http://schemas.microsoft.com/office/powerpoint/2010/main" val="35487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7" grpId="0"/>
      <p:bldP spid="2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10971212" y="6324600"/>
            <a:ext cx="10807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Ref. WebGoat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6F045-8E5B-1C8E-243E-6D23F5BA95C6}"/>
              </a:ext>
            </a:extLst>
          </p:cNvPr>
          <p:cNvSpPr txBox="1">
            <a:spLocks/>
          </p:cNvSpPr>
          <p:nvPr/>
        </p:nvSpPr>
        <p:spPr>
          <a:xfrm>
            <a:off x="1293811" y="317241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Ways of mitigation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E073D4C7-9731-796B-364F-DE356680EDA3}"/>
              </a:ext>
            </a:extLst>
          </p:cNvPr>
          <p:cNvSpPr txBox="1">
            <a:spLocks/>
          </p:cNvSpPr>
          <p:nvPr/>
        </p:nvSpPr>
        <p:spPr>
          <a:xfrm>
            <a:off x="749493" y="1713220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Architecture Information of the Open-Source Modules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8E084371-5BD3-7086-27EF-3B9DE6FFE65D}"/>
              </a:ext>
            </a:extLst>
          </p:cNvPr>
          <p:cNvSpPr txBox="1">
            <a:spLocks/>
          </p:cNvSpPr>
          <p:nvPr/>
        </p:nvSpPr>
        <p:spPr>
          <a:xfrm>
            <a:off x="749493" y="2438400"/>
            <a:ext cx="11049000" cy="1600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Is my component old or is it stable</a:t>
            </a:r>
          </a:p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Is my component unpopular</a:t>
            </a:r>
          </a:p>
          <a:p>
            <a:r>
              <a:rPr lang="en-US" sz="2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Was my lack of upgrade a deliberate choice or a lack of knowledge</a:t>
            </a:r>
          </a:p>
        </p:txBody>
      </p:sp>
    </p:spTree>
    <p:extLst>
      <p:ext uri="{BB962C8B-B14F-4D97-AF65-F5344CB8AC3E}">
        <p14:creationId xmlns:p14="http://schemas.microsoft.com/office/powerpoint/2010/main" val="571293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93AADDC-8599-83FC-27A8-C3363F7791FD}"/>
              </a:ext>
            </a:extLst>
          </p:cNvPr>
          <p:cNvSpPr txBox="1">
            <a:spLocks/>
          </p:cNvSpPr>
          <p:nvPr/>
        </p:nvSpPr>
        <p:spPr>
          <a:xfrm>
            <a:off x="545031" y="1101197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Applying Patch Management Process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C9C4F6-9C50-8832-36D1-51F935F45DBD}"/>
              </a:ext>
            </a:extLst>
          </p:cNvPr>
          <p:cNvSpPr txBox="1">
            <a:spLocks/>
          </p:cNvSpPr>
          <p:nvPr/>
        </p:nvSpPr>
        <p:spPr>
          <a:xfrm>
            <a:off x="555950" y="1905002"/>
            <a:ext cx="11049000" cy="41909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identifying OSS-BOM:</a:t>
            </a:r>
          </a:p>
          <a:p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Remove unused dependencies, unnecessary features, components, files, and documentation.</a:t>
            </a:r>
          </a:p>
          <a:p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inventory the versions of both client-side and server-side components (e.g., frameworks, libraries) and their dependencies using tools like versions, OWASP Dependency Check, retire.js, etc. Continuously monitor sources like CVE and NVD for vulnerabilities in the components.</a:t>
            </a:r>
          </a:p>
          <a:p>
            <a:r>
              <a:rPr lang="en-US" sz="2400" dirty="0">
                <a:solidFill>
                  <a:schemeClr val="tx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software composition analysis tools to automate the process. Subscribe to email alerts for security vulnerabilities related to components you use.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10514012" y="6324600"/>
            <a:ext cx="15379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Ref. OWASP TOP 10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D06F045-8E5B-1C8E-243E-6D23F5BA95C6}"/>
              </a:ext>
            </a:extLst>
          </p:cNvPr>
          <p:cNvSpPr txBox="1">
            <a:spLocks/>
          </p:cNvSpPr>
          <p:nvPr/>
        </p:nvSpPr>
        <p:spPr>
          <a:xfrm>
            <a:off x="1293811" y="317241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Ways of mitigation</a:t>
            </a:r>
          </a:p>
        </p:txBody>
      </p:sp>
    </p:spTree>
    <p:extLst>
      <p:ext uri="{BB962C8B-B14F-4D97-AF65-F5344CB8AC3E}">
        <p14:creationId xmlns:p14="http://schemas.microsoft.com/office/powerpoint/2010/main" val="228045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93891DD-9B12-1DD8-F139-0B2893312CC6}"/>
              </a:ext>
            </a:extLst>
          </p:cNvPr>
          <p:cNvSpPr txBox="1">
            <a:spLocks/>
          </p:cNvSpPr>
          <p:nvPr/>
        </p:nvSpPr>
        <p:spPr>
          <a:xfrm>
            <a:off x="545596" y="3307760"/>
            <a:ext cx="5562779" cy="9487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b="0" i="0" dirty="0">
              <a:effectLst/>
              <a:latin typeface="Roboto" panose="02000000000000000000" pitchFamily="2" charset="0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A93AADDC-8599-83FC-27A8-C3363F7791FD}"/>
              </a:ext>
            </a:extLst>
          </p:cNvPr>
          <p:cNvSpPr txBox="1">
            <a:spLocks/>
          </p:cNvSpPr>
          <p:nvPr/>
        </p:nvSpPr>
        <p:spPr>
          <a:xfrm>
            <a:off x="545031" y="1101197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oboto" panose="02000000000000000000" pitchFamily="2" charset="0"/>
              </a:rPr>
              <a:t>New Linux malware uses 30 plugin exploits to backdoor WordPress sites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0C9C4F6-9C50-8832-36D1-51F935F45DBD}"/>
              </a:ext>
            </a:extLst>
          </p:cNvPr>
          <p:cNvSpPr txBox="1">
            <a:spLocks/>
          </p:cNvSpPr>
          <p:nvPr/>
        </p:nvSpPr>
        <p:spPr>
          <a:xfrm>
            <a:off x="546553" y="1936103"/>
            <a:ext cx="11049000" cy="44195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Affected Components: </a:t>
            </a: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WP Live Chat Support Plugin, </a:t>
            </a:r>
            <a:r>
              <a:rPr lang="en-US" sz="2400" dirty="0" err="1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Easysmtp</a:t>
            </a: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Thim</a:t>
            </a: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Core, Google Code Inserter etc.</a:t>
            </a:r>
          </a:p>
          <a:p>
            <a:pPr algn="just"/>
            <a:r>
              <a:rPr lang="en-US" sz="2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Security Issue: </a:t>
            </a: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Infected pages act as redirectors to a location of the attacker's choosing, so the scheme works best on abandoned sites. These redirections may serve in phishing, malware distribution, and </a:t>
            </a:r>
            <a:r>
              <a:rPr lang="en-US" sz="2400" dirty="0" err="1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malvertising</a:t>
            </a: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campaigns to help evade detection and blocking. That said, the operators of the auto-injector might be selling their services to other cybercriminals.</a:t>
            </a:r>
          </a:p>
          <a:p>
            <a:pPr algn="just"/>
            <a:r>
              <a:rPr lang="en-US" sz="2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Countermeasure: </a:t>
            </a: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Update to the latest available version the themes and plugins running on the site and replace those that are no longer developed with alternatives that being supported.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10056812" y="6324600"/>
            <a:ext cx="19951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Ref. </a:t>
            </a: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bleecpingcomputer.com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267488E-749E-8636-7B42-F0D38FE4B6F7}"/>
              </a:ext>
            </a:extLst>
          </p:cNvPr>
          <p:cNvSpPr txBox="1">
            <a:spLocks/>
          </p:cNvSpPr>
          <p:nvPr/>
        </p:nvSpPr>
        <p:spPr>
          <a:xfrm>
            <a:off x="1293811" y="381000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01260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9294812" y="6324600"/>
            <a:ext cx="27571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Ref. </a:t>
            </a:r>
            <a:r>
              <a:rPr lang="en-US" sz="1200" dirty="0">
                <a:ln w="0"/>
                <a:solidFill>
                  <a:srgbClr val="0D2E4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bleecpingcomputer.</a:t>
            </a: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B326A90-1E7F-6706-9C90-6DE5DFEC58C2}"/>
              </a:ext>
            </a:extLst>
          </p:cNvPr>
          <p:cNvSpPr txBox="1">
            <a:spLocks/>
          </p:cNvSpPr>
          <p:nvPr/>
        </p:nvSpPr>
        <p:spPr>
          <a:xfrm>
            <a:off x="684212" y="1113695"/>
            <a:ext cx="11049000" cy="575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10-year-old Windows bug with 'opt-in' fix exploited in 3CX attack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C76AEB6-C550-C850-2BA4-4DB87F577C8C}"/>
              </a:ext>
            </a:extLst>
          </p:cNvPr>
          <p:cNvSpPr txBox="1">
            <a:spLocks/>
          </p:cNvSpPr>
          <p:nvPr/>
        </p:nvSpPr>
        <p:spPr>
          <a:xfrm>
            <a:off x="684212" y="1794703"/>
            <a:ext cx="11049000" cy="27009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Affected Components: </a:t>
            </a: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Windows OS (WIN_CERTIFICATE structure)</a:t>
            </a:r>
          </a:p>
          <a:p>
            <a:pPr algn="just"/>
            <a:r>
              <a:rPr lang="en-US" sz="2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Security Issue:</a:t>
            </a: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Cannot identify malicious </a:t>
            </a:r>
            <a:r>
              <a:rPr lang="en-US" sz="2400" dirty="0" err="1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dll</a:t>
            </a: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or exe file execution as the d3dcompiler_47.dll uses Microsoft’s Digital Signature</a:t>
            </a:r>
          </a:p>
          <a:p>
            <a:pPr algn="just"/>
            <a:r>
              <a:rPr lang="en-US" sz="24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Countermeasure</a:t>
            </a: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Microsoft made it optional fix as it would invalidate legitimate, signed executables that stored data in the signature block of an executable.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77D720-EDB8-296F-690C-B3DC46088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2439" y="4495642"/>
            <a:ext cx="6591871" cy="182895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F2EFE95-5178-4D71-8CE0-00379B6A8A75}"/>
              </a:ext>
            </a:extLst>
          </p:cNvPr>
          <p:cNvSpPr txBox="1">
            <a:spLocks/>
          </p:cNvSpPr>
          <p:nvPr/>
        </p:nvSpPr>
        <p:spPr>
          <a:xfrm>
            <a:off x="1293812" y="457442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51303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D1AFAE02-9F3E-4B31-0C8B-69F34F70E6D3}"/>
              </a:ext>
            </a:extLst>
          </p:cNvPr>
          <p:cNvSpPr txBox="1">
            <a:spLocks/>
          </p:cNvSpPr>
          <p:nvPr/>
        </p:nvSpPr>
        <p:spPr>
          <a:xfrm>
            <a:off x="10895012" y="6324600"/>
            <a:ext cx="11569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Ref. </a:t>
            </a:r>
            <a:r>
              <a:rPr lang="en-US" sz="1200" dirty="0">
                <a:ln w="0"/>
                <a:solidFill>
                  <a:srgbClr val="0D2E4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Web Juice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B326A90-1E7F-6706-9C90-6DE5DFEC58C2}"/>
              </a:ext>
            </a:extLst>
          </p:cNvPr>
          <p:cNvSpPr txBox="1">
            <a:spLocks/>
          </p:cNvSpPr>
          <p:nvPr/>
        </p:nvSpPr>
        <p:spPr>
          <a:xfrm>
            <a:off x="3922712" y="1236787"/>
            <a:ext cx="4343400" cy="4865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DOM Based XSS in Web Juice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9C76AEB6-C550-C850-2BA4-4DB87F577C8C}"/>
              </a:ext>
            </a:extLst>
          </p:cNvPr>
          <p:cNvSpPr txBox="1">
            <a:spLocks/>
          </p:cNvSpPr>
          <p:nvPr/>
        </p:nvSpPr>
        <p:spPr>
          <a:xfrm>
            <a:off x="684212" y="2133600"/>
            <a:ext cx="11049000" cy="3839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400" dirty="0">
                <a:ln w="0"/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DOM Based XSS: This attack uses malicious code to modify the DOM elements/environment in the client-side script. In this attack, the payload is placed on the server-side.</a:t>
            </a:r>
          </a:p>
          <a:p>
            <a:pPr marL="0" indent="0" algn="just">
              <a:buNone/>
            </a:pPr>
            <a:endParaRPr lang="en-US" sz="240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n w="0"/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F2EFE95-5178-4D71-8CE0-00379B6A8A75}"/>
              </a:ext>
            </a:extLst>
          </p:cNvPr>
          <p:cNvSpPr txBox="1">
            <a:spLocks/>
          </p:cNvSpPr>
          <p:nvPr/>
        </p:nvSpPr>
        <p:spPr>
          <a:xfrm>
            <a:off x="1293812" y="334347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simple XSS 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B8B15-ABBB-C9B8-1DF3-F172B41E1C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241" b="3727"/>
          <a:stretch/>
        </p:blipFill>
        <p:spPr>
          <a:xfrm>
            <a:off x="1421605" y="3657600"/>
            <a:ext cx="9345613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41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B326A90-1E7F-6706-9C90-6DE5DFEC58C2}"/>
              </a:ext>
            </a:extLst>
          </p:cNvPr>
          <p:cNvSpPr txBox="1">
            <a:spLocks/>
          </p:cNvSpPr>
          <p:nvPr/>
        </p:nvSpPr>
        <p:spPr>
          <a:xfrm>
            <a:off x="3922712" y="1104636"/>
            <a:ext cx="4343400" cy="4865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n w="0"/>
                <a:solidFill>
                  <a:srgbClr val="FFC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DOM Based XSS in Web Juice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F2EFE95-5178-4D71-8CE0-00379B6A8A75}"/>
              </a:ext>
            </a:extLst>
          </p:cNvPr>
          <p:cNvSpPr txBox="1">
            <a:spLocks/>
          </p:cNvSpPr>
          <p:nvPr/>
        </p:nvSpPr>
        <p:spPr>
          <a:xfrm>
            <a:off x="1293811" y="363894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simple XSS Demo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326C1-6402-710B-FA8F-991FC32DC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300" y="1762755"/>
            <a:ext cx="9752013" cy="3332489"/>
          </a:xfrm>
          <a:prstGeom prst="rect">
            <a:avLst/>
          </a:prstGeom>
        </p:spPr>
      </p:pic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E82AB69-0EC2-343D-442F-1AB20E7376DA}"/>
              </a:ext>
            </a:extLst>
          </p:cNvPr>
          <p:cNvSpPr txBox="1">
            <a:spLocks/>
          </p:cNvSpPr>
          <p:nvPr/>
        </p:nvSpPr>
        <p:spPr>
          <a:xfrm>
            <a:off x="10895012" y="6324600"/>
            <a:ext cx="11569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Ref. </a:t>
            </a:r>
            <a:r>
              <a:rPr lang="en-US" sz="1200" dirty="0">
                <a:ln w="0"/>
                <a:solidFill>
                  <a:srgbClr val="0D2E4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Web Juice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DB0BE2-2FF1-E414-92BB-B95EC4E3ED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510"/>
          <a:stretch/>
        </p:blipFill>
        <p:spPr>
          <a:xfrm>
            <a:off x="1295300" y="5182096"/>
            <a:ext cx="9752013" cy="114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438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B326A90-1E7F-6706-9C90-6DE5DFEC58C2}"/>
              </a:ext>
            </a:extLst>
          </p:cNvPr>
          <p:cNvSpPr txBox="1">
            <a:spLocks/>
          </p:cNvSpPr>
          <p:nvPr/>
        </p:nvSpPr>
        <p:spPr>
          <a:xfrm>
            <a:off x="1293811" y="1066800"/>
            <a:ext cx="9601201" cy="2438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Main takeaways from this presentation:</a:t>
            </a:r>
          </a:p>
          <a:p>
            <a:pPr marL="457200" indent="-457200">
              <a:buAutoNum type="arabicPeriod"/>
            </a:pP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Basic knowledge about outdated and vulnerable components.</a:t>
            </a:r>
          </a:p>
          <a:p>
            <a:pPr marL="457200" indent="-457200">
              <a:buFont typeface="Wingdings 3" panose="05040102010807070707" pitchFamily="18" charset="2"/>
              <a:buAutoNum type="arabicPeriod"/>
            </a:pP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Reasons behind the generation of outdated and vulnerable components.</a:t>
            </a:r>
          </a:p>
          <a:p>
            <a:pPr marL="457200" indent="-457200">
              <a:buFont typeface="Wingdings 3" panose="05040102010807070707" pitchFamily="18" charset="2"/>
              <a:buAutoNum type="arabicPeriod"/>
            </a:pPr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Ways of mitigation of vulnerable and outdated components.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F2EFE95-5178-4D71-8CE0-00379B6A8A75}"/>
              </a:ext>
            </a:extLst>
          </p:cNvPr>
          <p:cNvSpPr txBox="1">
            <a:spLocks/>
          </p:cNvSpPr>
          <p:nvPr/>
        </p:nvSpPr>
        <p:spPr>
          <a:xfrm>
            <a:off x="1293811" y="410547"/>
            <a:ext cx="8763001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1E82AB69-0EC2-343D-442F-1AB20E7376DA}"/>
              </a:ext>
            </a:extLst>
          </p:cNvPr>
          <p:cNvSpPr txBox="1">
            <a:spLocks/>
          </p:cNvSpPr>
          <p:nvPr/>
        </p:nvSpPr>
        <p:spPr>
          <a:xfrm>
            <a:off x="10895012" y="6324600"/>
            <a:ext cx="1156962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664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9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727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799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199790" indent="-285664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2587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999650" indent="-171399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3846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0908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7971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5034" indent="-228531" algn="l" defTabSz="457063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Ref. </a:t>
            </a:r>
            <a:r>
              <a:rPr lang="en-US" sz="1200" dirty="0">
                <a:ln w="0"/>
                <a:solidFill>
                  <a:srgbClr val="0D2E4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Web Juice</a:t>
            </a:r>
            <a:endParaRPr lang="en-US" sz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50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F2EFE95-5178-4D71-8CE0-00379B6A8A75}"/>
              </a:ext>
            </a:extLst>
          </p:cNvPr>
          <p:cNvSpPr txBox="1">
            <a:spLocks/>
          </p:cNvSpPr>
          <p:nvPr/>
        </p:nvSpPr>
        <p:spPr>
          <a:xfrm>
            <a:off x="3160711" y="178837"/>
            <a:ext cx="5867400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and Answer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0FCBF52-B7B2-E0D3-F21D-8A2C9DD53A0A}"/>
              </a:ext>
            </a:extLst>
          </p:cNvPr>
          <p:cNvSpPr/>
          <p:nvPr/>
        </p:nvSpPr>
        <p:spPr>
          <a:xfrm>
            <a:off x="5186918" y="1379376"/>
            <a:ext cx="1814987" cy="3116424"/>
          </a:xfrm>
          <a:custGeom>
            <a:avLst/>
            <a:gdLst>
              <a:gd name="connsiteX0" fmla="*/ 1055557 w 1814987"/>
              <a:gd name="connsiteY0" fmla="*/ 942392 h 3116424"/>
              <a:gd name="connsiteX1" fmla="*/ 756977 w 1814987"/>
              <a:gd name="connsiteY1" fmla="*/ 1110343 h 3116424"/>
              <a:gd name="connsiteX2" fmla="*/ 561035 w 1814987"/>
              <a:gd name="connsiteY2" fmla="*/ 1119673 h 3116424"/>
              <a:gd name="connsiteX3" fmla="*/ 215802 w 1814987"/>
              <a:gd name="connsiteY3" fmla="*/ 998375 h 3116424"/>
              <a:gd name="connsiteX4" fmla="*/ 29190 w 1814987"/>
              <a:gd name="connsiteY4" fmla="*/ 774440 h 3116424"/>
              <a:gd name="connsiteX5" fmla="*/ 1198 w 1814987"/>
              <a:gd name="connsiteY5" fmla="*/ 681134 h 3116424"/>
              <a:gd name="connsiteX6" fmla="*/ 85173 w 1814987"/>
              <a:gd name="connsiteY6" fmla="*/ 354563 h 3116424"/>
              <a:gd name="connsiteX7" fmla="*/ 355761 w 1814987"/>
              <a:gd name="connsiteY7" fmla="*/ 65314 h 3116424"/>
              <a:gd name="connsiteX8" fmla="*/ 822292 w 1814987"/>
              <a:gd name="connsiteY8" fmla="*/ 0 h 3116424"/>
              <a:gd name="connsiteX9" fmla="*/ 1046226 w 1814987"/>
              <a:gd name="connsiteY9" fmla="*/ 9330 h 3116424"/>
              <a:gd name="connsiteX10" fmla="*/ 1428782 w 1814987"/>
              <a:gd name="connsiteY10" fmla="*/ 121298 h 3116424"/>
              <a:gd name="connsiteX11" fmla="*/ 1596733 w 1814987"/>
              <a:gd name="connsiteY11" fmla="*/ 242596 h 3116424"/>
              <a:gd name="connsiteX12" fmla="*/ 1764684 w 1814987"/>
              <a:gd name="connsiteY12" fmla="*/ 559836 h 3116424"/>
              <a:gd name="connsiteX13" fmla="*/ 1746022 w 1814987"/>
              <a:gd name="connsiteY13" fmla="*/ 1278294 h 3116424"/>
              <a:gd name="connsiteX14" fmla="*/ 1671377 w 1814987"/>
              <a:gd name="connsiteY14" fmla="*/ 1418253 h 3116424"/>
              <a:gd name="connsiteX15" fmla="*/ 1204847 w 1814987"/>
              <a:gd name="connsiteY15" fmla="*/ 1782147 h 3116424"/>
              <a:gd name="connsiteX16" fmla="*/ 1102210 w 1814987"/>
              <a:gd name="connsiteY16" fmla="*/ 1875453 h 3116424"/>
              <a:gd name="connsiteX17" fmla="*/ 924928 w 1814987"/>
              <a:gd name="connsiteY17" fmla="*/ 2164702 h 3116424"/>
              <a:gd name="connsiteX18" fmla="*/ 868945 w 1814987"/>
              <a:gd name="connsiteY18" fmla="*/ 2360645 h 3116424"/>
              <a:gd name="connsiteX19" fmla="*/ 859614 w 1814987"/>
              <a:gd name="connsiteY19" fmla="*/ 2453951 h 3116424"/>
              <a:gd name="connsiteX20" fmla="*/ 896937 w 1814987"/>
              <a:gd name="connsiteY20" fmla="*/ 2761861 h 3116424"/>
              <a:gd name="connsiteX21" fmla="*/ 906267 w 1814987"/>
              <a:gd name="connsiteY21" fmla="*/ 2855167 h 3116424"/>
              <a:gd name="connsiteX22" fmla="*/ 924928 w 1814987"/>
              <a:gd name="connsiteY22" fmla="*/ 2939143 h 3116424"/>
              <a:gd name="connsiteX23" fmla="*/ 934259 w 1814987"/>
              <a:gd name="connsiteY23" fmla="*/ 3004457 h 3116424"/>
              <a:gd name="connsiteX24" fmla="*/ 943590 w 1814987"/>
              <a:gd name="connsiteY24" fmla="*/ 3116424 h 3116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814987" h="3116424">
                <a:moveTo>
                  <a:pt x="1055557" y="942392"/>
                </a:moveTo>
                <a:cubicBezTo>
                  <a:pt x="956927" y="1024583"/>
                  <a:pt x="921521" y="1061330"/>
                  <a:pt x="756977" y="1110343"/>
                </a:cubicBezTo>
                <a:cubicBezTo>
                  <a:pt x="694310" y="1129010"/>
                  <a:pt x="626349" y="1116563"/>
                  <a:pt x="561035" y="1119673"/>
                </a:cubicBezTo>
                <a:cubicBezTo>
                  <a:pt x="433088" y="1087686"/>
                  <a:pt x="327307" y="1074039"/>
                  <a:pt x="215802" y="998375"/>
                </a:cubicBezTo>
                <a:cubicBezTo>
                  <a:pt x="136061" y="944265"/>
                  <a:pt x="82091" y="850854"/>
                  <a:pt x="29190" y="774440"/>
                </a:cubicBezTo>
                <a:cubicBezTo>
                  <a:pt x="19859" y="743338"/>
                  <a:pt x="4011" y="713483"/>
                  <a:pt x="1198" y="681134"/>
                </a:cubicBezTo>
                <a:cubicBezTo>
                  <a:pt x="-8309" y="571810"/>
                  <a:pt x="40515" y="446112"/>
                  <a:pt x="85173" y="354563"/>
                </a:cubicBezTo>
                <a:cubicBezTo>
                  <a:pt x="147499" y="226795"/>
                  <a:pt x="218008" y="121071"/>
                  <a:pt x="355761" y="65314"/>
                </a:cubicBezTo>
                <a:cubicBezTo>
                  <a:pt x="470216" y="18987"/>
                  <a:pt x="702102" y="9615"/>
                  <a:pt x="822292" y="0"/>
                </a:cubicBezTo>
                <a:cubicBezTo>
                  <a:pt x="896937" y="3110"/>
                  <a:pt x="972118" y="-130"/>
                  <a:pt x="1046226" y="9330"/>
                </a:cubicBezTo>
                <a:cubicBezTo>
                  <a:pt x="1191637" y="27893"/>
                  <a:pt x="1297542" y="62969"/>
                  <a:pt x="1428782" y="121298"/>
                </a:cubicBezTo>
                <a:cubicBezTo>
                  <a:pt x="1492531" y="149631"/>
                  <a:pt x="1550771" y="189377"/>
                  <a:pt x="1596733" y="242596"/>
                </a:cubicBezTo>
                <a:cubicBezTo>
                  <a:pt x="1705123" y="368100"/>
                  <a:pt x="1700035" y="398213"/>
                  <a:pt x="1764684" y="559836"/>
                </a:cubicBezTo>
                <a:cubicBezTo>
                  <a:pt x="1824313" y="905685"/>
                  <a:pt x="1845409" y="860869"/>
                  <a:pt x="1746022" y="1278294"/>
                </a:cubicBezTo>
                <a:cubicBezTo>
                  <a:pt x="1733775" y="1329730"/>
                  <a:pt x="1705226" y="1377635"/>
                  <a:pt x="1671377" y="1418253"/>
                </a:cubicBezTo>
                <a:cubicBezTo>
                  <a:pt x="1567976" y="1542334"/>
                  <a:pt x="1299127" y="1696438"/>
                  <a:pt x="1204847" y="1782147"/>
                </a:cubicBezTo>
                <a:cubicBezTo>
                  <a:pt x="1170635" y="1813249"/>
                  <a:pt x="1132076" y="1840157"/>
                  <a:pt x="1102210" y="1875453"/>
                </a:cubicBezTo>
                <a:cubicBezTo>
                  <a:pt x="1044797" y="1943304"/>
                  <a:pt x="962169" y="2080909"/>
                  <a:pt x="924928" y="2164702"/>
                </a:cubicBezTo>
                <a:cubicBezTo>
                  <a:pt x="894002" y="2234287"/>
                  <a:pt x="884869" y="2288984"/>
                  <a:pt x="868945" y="2360645"/>
                </a:cubicBezTo>
                <a:cubicBezTo>
                  <a:pt x="865835" y="2391747"/>
                  <a:pt x="858638" y="2422709"/>
                  <a:pt x="859614" y="2453951"/>
                </a:cubicBezTo>
                <a:cubicBezTo>
                  <a:pt x="866773" y="2683052"/>
                  <a:pt x="873399" y="2597093"/>
                  <a:pt x="896937" y="2761861"/>
                </a:cubicBezTo>
                <a:cubicBezTo>
                  <a:pt x="901357" y="2792804"/>
                  <a:pt x="901392" y="2824292"/>
                  <a:pt x="906267" y="2855167"/>
                </a:cubicBezTo>
                <a:cubicBezTo>
                  <a:pt x="910739" y="2883491"/>
                  <a:pt x="919644" y="2910959"/>
                  <a:pt x="924928" y="2939143"/>
                </a:cubicBezTo>
                <a:cubicBezTo>
                  <a:pt x="928981" y="2960759"/>
                  <a:pt x="931531" y="2982634"/>
                  <a:pt x="934259" y="3004457"/>
                </a:cubicBezTo>
                <a:cubicBezTo>
                  <a:pt x="944620" y="3087345"/>
                  <a:pt x="943590" y="3063701"/>
                  <a:pt x="943590" y="3116424"/>
                </a:cubicBezTo>
              </a:path>
            </a:pathLst>
          </a:cu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002CF91-D544-98D4-82A3-8183D697F649}"/>
              </a:ext>
            </a:extLst>
          </p:cNvPr>
          <p:cNvSpPr/>
          <p:nvPr/>
        </p:nvSpPr>
        <p:spPr>
          <a:xfrm>
            <a:off x="6094412" y="4648200"/>
            <a:ext cx="76218" cy="103305"/>
          </a:xfrm>
          <a:custGeom>
            <a:avLst/>
            <a:gdLst>
              <a:gd name="connsiteX0" fmla="*/ 28350 w 76218"/>
              <a:gd name="connsiteY0" fmla="*/ 24162 h 103305"/>
              <a:gd name="connsiteX1" fmla="*/ 9688 w 76218"/>
              <a:gd name="connsiteY1" fmla="*/ 70815 h 103305"/>
              <a:gd name="connsiteX2" fmla="*/ 75003 w 76218"/>
              <a:gd name="connsiteY2" fmla="*/ 80145 h 103305"/>
              <a:gd name="connsiteX3" fmla="*/ 65672 w 76218"/>
              <a:gd name="connsiteY3" fmla="*/ 14831 h 103305"/>
              <a:gd name="connsiteX4" fmla="*/ 9688 w 76218"/>
              <a:gd name="connsiteY4" fmla="*/ 98806 h 103305"/>
              <a:gd name="connsiteX5" fmla="*/ 47011 w 76218"/>
              <a:gd name="connsiteY5" fmla="*/ 98806 h 103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218" h="103305">
                <a:moveTo>
                  <a:pt x="28350" y="24162"/>
                </a:moveTo>
                <a:cubicBezTo>
                  <a:pt x="22129" y="39713"/>
                  <a:pt x="7319" y="54234"/>
                  <a:pt x="9688" y="70815"/>
                </a:cubicBezTo>
                <a:cubicBezTo>
                  <a:pt x="14576" y="105033"/>
                  <a:pt x="65424" y="82540"/>
                  <a:pt x="75003" y="80145"/>
                </a:cubicBezTo>
                <a:cubicBezTo>
                  <a:pt x="71893" y="58374"/>
                  <a:pt x="84322" y="26487"/>
                  <a:pt x="65672" y="14831"/>
                </a:cubicBezTo>
                <a:cubicBezTo>
                  <a:pt x="-29151" y="-44433"/>
                  <a:pt x="5278" y="92633"/>
                  <a:pt x="9688" y="98806"/>
                </a:cubicBezTo>
                <a:cubicBezTo>
                  <a:pt x="16919" y="108930"/>
                  <a:pt x="34570" y="98806"/>
                  <a:pt x="47011" y="98806"/>
                </a:cubicBezTo>
              </a:path>
            </a:pathLst>
          </a:cu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A450A68-C07F-0CD7-8E06-9340A9348BA0}"/>
              </a:ext>
            </a:extLst>
          </p:cNvPr>
          <p:cNvSpPr txBox="1">
            <a:spLocks/>
          </p:cNvSpPr>
          <p:nvPr/>
        </p:nvSpPr>
        <p:spPr>
          <a:xfrm>
            <a:off x="3122612" y="5287347"/>
            <a:ext cx="5867400" cy="65625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all.</a:t>
            </a:r>
          </a:p>
        </p:txBody>
      </p:sp>
    </p:spTree>
    <p:extLst>
      <p:ext uri="{BB962C8B-B14F-4D97-AF65-F5344CB8AC3E}">
        <p14:creationId xmlns:p14="http://schemas.microsoft.com/office/powerpoint/2010/main" val="117477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 animBg="1"/>
      <p:bldP spid="4" grpId="0" animBg="1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|0.8|0.6|4.2|8.2|10.2|2.7|2.5|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9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2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7.8|1.1|17.5|4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13.8|26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8|41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42.6|1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10"/>
</p:tagLst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Subtle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E5ED73A5-C2D2-4D49-BB89-167E8E32C9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1D6E40-F509-498A-BF02-00C895783B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427FAC-CD3A-494C-985C-09E26C5EA507}">
  <ds:schemaRefs>
    <ds:schemaRef ds:uri="40262f94-9f35-4ac3-9a90-690165a166b7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a4f35948-e619-41b3-aa29-22878b09cfd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3248</TotalTime>
  <Words>1442</Words>
  <Application>Microsoft Office PowerPoint</Application>
  <PresentationFormat>Custom</PresentationFormat>
  <Paragraphs>165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Century Gothic</vt:lpstr>
      <vt:lpstr>Palatino Linotype</vt:lpstr>
      <vt:lpstr>Roboto</vt:lpstr>
      <vt:lpstr>Times New Roman</vt:lpstr>
      <vt:lpstr>Wingdings</vt:lpstr>
      <vt:lpstr>Wingdings 3</vt:lpstr>
      <vt:lpstr>Slice</vt:lpstr>
      <vt:lpstr>Presentation on  “Vulnerable and Outdated Components”</vt:lpstr>
      <vt:lpstr>Agenda</vt:lpstr>
      <vt:lpstr>What is OWASP?</vt:lpstr>
      <vt:lpstr>OWASP Projects</vt:lpstr>
      <vt:lpstr>OWASP Top 10 was first released in 2003…Latest 2021…</vt:lpstr>
      <vt:lpstr>The Open-Source Ecosystems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Presentation on  “Vulnerable and Outdated Components”</dc:title>
  <dc:creator>Miji, Md Kausar Hamid - SDSMT Student</dc:creator>
  <cp:lastModifiedBy>Miji, Md Kausar Hamid - SDSMT Student</cp:lastModifiedBy>
  <cp:revision>202</cp:revision>
  <dcterms:created xsi:type="dcterms:W3CDTF">2023-03-18T02:05:15Z</dcterms:created>
  <dcterms:modified xsi:type="dcterms:W3CDTF">2023-04-24T15:16:14Z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74063900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